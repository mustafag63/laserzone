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571" autoAdjust="0"/>
  </p:normalViewPr>
  <p:slideViewPr>
    <p:cSldViewPr>
      <p:cViewPr varScale="1">
        <p:scale>
          <a:sx n="114" d="100"/>
          <a:sy n="114" d="100"/>
        </p:scale>
        <p:origin x="152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AC9A3-5374-4D4C-B48B-9114DA0E0C02}" type="datetimeFigureOut">
              <a:rPr lang="tr-TR" smtClean="0"/>
              <a:t>18.05.2026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1CB98-1AE7-4040-92E5-97295D1BB8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274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name is Tuna, I am the backend developer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we would like to talk about our project called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LaserZone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LaserZone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online reservation system specifically designed for laser game businesses.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chose this project because many local businesses still manage reservations manually, which can cause confusion.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aim is to provide a simple and modern system that makes the reservation process faster and easier for both customers and business owners.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2900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everyone. Today I’ll present our project,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LaserZone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I'm Muhammet Gümüş, the frontend developer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cover five topics today — the purpose of the project, the technologies we used, our requirements, the difficulties we faced, and finally what we learned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692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"LaserZone is a web-based reservation system for a laser tag business. Customers register, browse time slots, and book sessions online — all payments are handled on-site.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has three main goals: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 phone and manual bookings with a self-service platform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group matchmaking — a leader opens a session, others send join requests to fill it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 admins full control over reservations, working hours, and slot management"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415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"We built LaserZone as a web application. Here's our stack: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— React.js and TailwindCSS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— Node.js with Express, REST API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 — MySQL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 — JWT tokens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 — SendGrid, still in progress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 control — GitHub with feature branches"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8569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had six requirement areas.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authentication, users can register and log in, and we have two roles — customer and admin.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it comes to reservations, users can create, edit, and cancel bookings — with conflict checking and full history.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most unique feature is group matchmaking — a leader creates an open session, others send join requests, the leader approves or rejects them, and the group auto-locks when it's full.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admin side, staff can manage all reservations and configure slots and working hours.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keep users informed, we built an in-app notification bell with five types, polling every 30 seconds.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finally, the entire UI supports both Turkish and English, with the preference saved."</a:t>
            </a:r>
            <a:endParaRPr lang="tr-TR" sz="12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011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tr-TR" sz="1200" i="1" kern="1200" noProof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main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major challenge was preventing slot conflicts between individual and group reservations.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challenge was managing the different states in the group system.</a:t>
            </a:r>
            <a:b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spent significant time improving notifications and authentication security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0444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taught us a lot about teamwork, backend API design, and frontend architecture.</a:t>
            </a:r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learned the importance of authentication and security in real-world applications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happy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1CB98-1AE7-4040-92E5-97295D1BB815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7647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C0C1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355" y="-353"/>
            <a:ext cx="9144000" cy="64135"/>
          </a:xfrm>
          <a:custGeom>
            <a:avLst/>
            <a:gdLst/>
            <a:ahLst/>
            <a:cxnLst/>
            <a:rect l="l" t="t" r="r" b="b"/>
            <a:pathLst>
              <a:path w="9144000" h="64135">
                <a:moveTo>
                  <a:pt x="9143631" y="0"/>
                </a:moveTo>
                <a:lnTo>
                  <a:pt x="0" y="0"/>
                </a:lnTo>
                <a:lnTo>
                  <a:pt x="0" y="63715"/>
                </a:lnTo>
                <a:lnTo>
                  <a:pt x="4572000" y="63715"/>
                </a:lnTo>
                <a:lnTo>
                  <a:pt x="9143631" y="63715"/>
                </a:lnTo>
                <a:lnTo>
                  <a:pt x="9143631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-355" y="-353"/>
            <a:ext cx="9144000" cy="64135"/>
          </a:xfrm>
          <a:custGeom>
            <a:avLst/>
            <a:gdLst/>
            <a:ahLst/>
            <a:cxnLst/>
            <a:rect l="l" t="t" r="r" b="b"/>
            <a:pathLst>
              <a:path w="9144000" h="64135">
                <a:moveTo>
                  <a:pt x="4572000" y="63715"/>
                </a:moveTo>
                <a:lnTo>
                  <a:pt x="0" y="63715"/>
                </a:lnTo>
                <a:lnTo>
                  <a:pt x="0" y="0"/>
                </a:lnTo>
                <a:lnTo>
                  <a:pt x="9143631" y="0"/>
                </a:lnTo>
                <a:lnTo>
                  <a:pt x="9143631" y="63715"/>
                </a:lnTo>
                <a:lnTo>
                  <a:pt x="4572000" y="63715"/>
                </a:lnTo>
                <a:close/>
              </a:path>
            </a:pathLst>
          </a:custGeom>
          <a:ln w="12599">
            <a:solidFill>
              <a:srgbClr val="7B39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227420"/>
            <a:ext cx="412622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61779" y="4934858"/>
            <a:ext cx="2820670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3A2B7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LaserZone</a:t>
            </a:r>
            <a:r>
              <a:rPr spc="165" dirty="0"/>
              <a:t> </a:t>
            </a:r>
            <a:r>
              <a:rPr dirty="0"/>
              <a:t>·</a:t>
            </a:r>
            <a:r>
              <a:rPr spc="175" dirty="0"/>
              <a:t> </a:t>
            </a:r>
            <a:r>
              <a:rPr dirty="0"/>
              <a:t>COMP</a:t>
            </a:r>
            <a:r>
              <a:rPr spc="-10" dirty="0"/>
              <a:t> </a:t>
            </a:r>
            <a:r>
              <a:rPr dirty="0"/>
              <a:t>202</a:t>
            </a:r>
            <a:r>
              <a:rPr spc="-20" dirty="0"/>
              <a:t> </a:t>
            </a:r>
            <a:r>
              <a:rPr spc="-10" dirty="0"/>
              <a:t>Software</a:t>
            </a:r>
            <a:r>
              <a:rPr spc="-20" dirty="0"/>
              <a:t> </a:t>
            </a:r>
            <a:r>
              <a:rPr dirty="0"/>
              <a:t>Engineering</a:t>
            </a:r>
            <a:r>
              <a:rPr spc="180" dirty="0"/>
              <a:t> </a:t>
            </a:r>
            <a:r>
              <a:rPr dirty="0"/>
              <a:t>·</a:t>
            </a:r>
            <a:r>
              <a:rPr spc="165" dirty="0"/>
              <a:t> </a:t>
            </a:r>
            <a:r>
              <a:rPr dirty="0"/>
              <a:t>Spring</a:t>
            </a:r>
            <a:r>
              <a:rPr spc="-1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94144" y="541986"/>
            <a:ext cx="2573020" cy="2573020"/>
            <a:chOff x="6394144" y="541986"/>
            <a:chExt cx="2573020" cy="2573020"/>
          </a:xfrm>
        </p:grpSpPr>
        <p:sp>
          <p:nvSpPr>
            <p:cNvPr id="3" name="object 3"/>
            <p:cNvSpPr/>
            <p:nvPr/>
          </p:nvSpPr>
          <p:spPr>
            <a:xfrm>
              <a:off x="6400444" y="548286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1280160" y="0"/>
                  </a:moveTo>
                  <a:lnTo>
                    <a:pt x="1228398" y="1045"/>
                  </a:lnTo>
                  <a:lnTo>
                    <a:pt x="1176837" y="4170"/>
                  </a:lnTo>
                  <a:lnTo>
                    <a:pt x="1125537" y="9360"/>
                  </a:lnTo>
                  <a:lnTo>
                    <a:pt x="1074558" y="16598"/>
                  </a:lnTo>
                  <a:lnTo>
                    <a:pt x="1023960" y="25870"/>
                  </a:lnTo>
                  <a:lnTo>
                    <a:pt x="973803" y="37159"/>
                  </a:lnTo>
                  <a:lnTo>
                    <a:pt x="924147" y="50451"/>
                  </a:lnTo>
                  <a:lnTo>
                    <a:pt x="875051" y="65728"/>
                  </a:lnTo>
                  <a:lnTo>
                    <a:pt x="826576" y="82976"/>
                  </a:lnTo>
                  <a:lnTo>
                    <a:pt x="778781" y="102179"/>
                  </a:lnTo>
                  <a:lnTo>
                    <a:pt x="731727" y="123321"/>
                  </a:lnTo>
                  <a:lnTo>
                    <a:pt x="685473" y="146387"/>
                  </a:lnTo>
                  <a:lnTo>
                    <a:pt x="640079" y="171361"/>
                  </a:lnTo>
                  <a:lnTo>
                    <a:pt x="595735" y="198218"/>
                  </a:lnTo>
                  <a:lnTo>
                    <a:pt x="552620" y="226760"/>
                  </a:lnTo>
                  <a:lnTo>
                    <a:pt x="510777" y="256945"/>
                  </a:lnTo>
                  <a:lnTo>
                    <a:pt x="470247" y="288732"/>
                  </a:lnTo>
                  <a:lnTo>
                    <a:pt x="431070" y="322079"/>
                  </a:lnTo>
                  <a:lnTo>
                    <a:pt x="393290" y="356945"/>
                  </a:lnTo>
                  <a:lnTo>
                    <a:pt x="356945" y="393290"/>
                  </a:lnTo>
                  <a:lnTo>
                    <a:pt x="322079" y="431070"/>
                  </a:lnTo>
                  <a:lnTo>
                    <a:pt x="288732" y="470247"/>
                  </a:lnTo>
                  <a:lnTo>
                    <a:pt x="256945" y="510777"/>
                  </a:lnTo>
                  <a:lnTo>
                    <a:pt x="226760" y="552620"/>
                  </a:lnTo>
                  <a:lnTo>
                    <a:pt x="198218" y="595735"/>
                  </a:lnTo>
                  <a:lnTo>
                    <a:pt x="171361" y="640079"/>
                  </a:lnTo>
                  <a:lnTo>
                    <a:pt x="146387" y="685473"/>
                  </a:lnTo>
                  <a:lnTo>
                    <a:pt x="123321" y="731727"/>
                  </a:lnTo>
                  <a:lnTo>
                    <a:pt x="102179" y="778781"/>
                  </a:lnTo>
                  <a:lnTo>
                    <a:pt x="82976" y="826576"/>
                  </a:lnTo>
                  <a:lnTo>
                    <a:pt x="65728" y="875051"/>
                  </a:lnTo>
                  <a:lnTo>
                    <a:pt x="50451" y="924147"/>
                  </a:lnTo>
                  <a:lnTo>
                    <a:pt x="37159" y="973803"/>
                  </a:lnTo>
                  <a:lnTo>
                    <a:pt x="25870" y="1023960"/>
                  </a:lnTo>
                  <a:lnTo>
                    <a:pt x="16598" y="1074558"/>
                  </a:lnTo>
                  <a:lnTo>
                    <a:pt x="9360" y="1125537"/>
                  </a:lnTo>
                  <a:lnTo>
                    <a:pt x="4170" y="1176837"/>
                  </a:lnTo>
                  <a:lnTo>
                    <a:pt x="1045" y="1228398"/>
                  </a:lnTo>
                  <a:lnTo>
                    <a:pt x="0" y="1280160"/>
                  </a:lnTo>
                  <a:lnTo>
                    <a:pt x="1045" y="1331919"/>
                  </a:lnTo>
                  <a:lnTo>
                    <a:pt x="4170" y="1383477"/>
                  </a:lnTo>
                  <a:lnTo>
                    <a:pt x="9360" y="1434775"/>
                  </a:lnTo>
                  <a:lnTo>
                    <a:pt x="16598" y="1485753"/>
                  </a:lnTo>
                  <a:lnTo>
                    <a:pt x="25870" y="1536350"/>
                  </a:lnTo>
                  <a:lnTo>
                    <a:pt x="37159" y="1586506"/>
                  </a:lnTo>
                  <a:lnTo>
                    <a:pt x="50451" y="1636163"/>
                  </a:lnTo>
                  <a:lnTo>
                    <a:pt x="65728" y="1685259"/>
                  </a:lnTo>
                  <a:lnTo>
                    <a:pt x="82976" y="1733735"/>
                  </a:lnTo>
                  <a:lnTo>
                    <a:pt x="102179" y="1781531"/>
                  </a:lnTo>
                  <a:lnTo>
                    <a:pt x="123321" y="1828587"/>
                  </a:lnTo>
                  <a:lnTo>
                    <a:pt x="146387" y="1874843"/>
                  </a:lnTo>
                  <a:lnTo>
                    <a:pt x="171361" y="1920239"/>
                  </a:lnTo>
                  <a:lnTo>
                    <a:pt x="198218" y="1964582"/>
                  </a:lnTo>
                  <a:lnTo>
                    <a:pt x="226760" y="2007694"/>
                  </a:lnTo>
                  <a:lnTo>
                    <a:pt x="256945" y="2049535"/>
                  </a:lnTo>
                  <a:lnTo>
                    <a:pt x="288732" y="2090064"/>
                  </a:lnTo>
                  <a:lnTo>
                    <a:pt x="322079" y="2129240"/>
                  </a:lnTo>
                  <a:lnTo>
                    <a:pt x="356945" y="2167020"/>
                  </a:lnTo>
                  <a:lnTo>
                    <a:pt x="393290" y="2203364"/>
                  </a:lnTo>
                  <a:lnTo>
                    <a:pt x="431070" y="2238231"/>
                  </a:lnTo>
                  <a:lnTo>
                    <a:pt x="470247" y="2271579"/>
                  </a:lnTo>
                  <a:lnTo>
                    <a:pt x="510777" y="2303367"/>
                  </a:lnTo>
                  <a:lnTo>
                    <a:pt x="552620" y="2333554"/>
                  </a:lnTo>
                  <a:lnTo>
                    <a:pt x="595735" y="2362098"/>
                  </a:lnTo>
                  <a:lnTo>
                    <a:pt x="640079" y="2388958"/>
                  </a:lnTo>
                  <a:lnTo>
                    <a:pt x="685473" y="2413930"/>
                  </a:lnTo>
                  <a:lnTo>
                    <a:pt x="731727" y="2436994"/>
                  </a:lnTo>
                  <a:lnTo>
                    <a:pt x="778781" y="2458135"/>
                  </a:lnTo>
                  <a:lnTo>
                    <a:pt x="826576" y="2477338"/>
                  </a:lnTo>
                  <a:lnTo>
                    <a:pt x="875051" y="2494586"/>
                  </a:lnTo>
                  <a:lnTo>
                    <a:pt x="924147" y="2509863"/>
                  </a:lnTo>
                  <a:lnTo>
                    <a:pt x="973803" y="2523155"/>
                  </a:lnTo>
                  <a:lnTo>
                    <a:pt x="1023960" y="2534445"/>
                  </a:lnTo>
                  <a:lnTo>
                    <a:pt x="1074558" y="2543718"/>
                  </a:lnTo>
                  <a:lnTo>
                    <a:pt x="1125537" y="2550958"/>
                  </a:lnTo>
                  <a:lnTo>
                    <a:pt x="1176837" y="2556148"/>
                  </a:lnTo>
                  <a:lnTo>
                    <a:pt x="1228398" y="2559274"/>
                  </a:lnTo>
                  <a:lnTo>
                    <a:pt x="1280160" y="2560320"/>
                  </a:lnTo>
                  <a:lnTo>
                    <a:pt x="1331919" y="2559274"/>
                  </a:lnTo>
                  <a:lnTo>
                    <a:pt x="1383477" y="2556148"/>
                  </a:lnTo>
                  <a:lnTo>
                    <a:pt x="1434775" y="2550958"/>
                  </a:lnTo>
                  <a:lnTo>
                    <a:pt x="1485753" y="2543718"/>
                  </a:lnTo>
                  <a:lnTo>
                    <a:pt x="1536350" y="2534445"/>
                  </a:lnTo>
                  <a:lnTo>
                    <a:pt x="1586506" y="2523155"/>
                  </a:lnTo>
                  <a:lnTo>
                    <a:pt x="1636163" y="2509863"/>
                  </a:lnTo>
                  <a:lnTo>
                    <a:pt x="1685259" y="2494586"/>
                  </a:lnTo>
                  <a:lnTo>
                    <a:pt x="1733735" y="2477338"/>
                  </a:lnTo>
                  <a:lnTo>
                    <a:pt x="1781531" y="2458135"/>
                  </a:lnTo>
                  <a:lnTo>
                    <a:pt x="1828587" y="2436994"/>
                  </a:lnTo>
                  <a:lnTo>
                    <a:pt x="1874843" y="2413930"/>
                  </a:lnTo>
                  <a:lnTo>
                    <a:pt x="1920240" y="2388958"/>
                  </a:lnTo>
                  <a:lnTo>
                    <a:pt x="1964582" y="2362098"/>
                  </a:lnTo>
                  <a:lnTo>
                    <a:pt x="2007694" y="2333554"/>
                  </a:lnTo>
                  <a:lnTo>
                    <a:pt x="2049535" y="2303367"/>
                  </a:lnTo>
                  <a:lnTo>
                    <a:pt x="2090064" y="2271579"/>
                  </a:lnTo>
                  <a:lnTo>
                    <a:pt x="2129240" y="2238231"/>
                  </a:lnTo>
                  <a:lnTo>
                    <a:pt x="2167020" y="2203364"/>
                  </a:lnTo>
                  <a:lnTo>
                    <a:pt x="2203364" y="2167020"/>
                  </a:lnTo>
                  <a:lnTo>
                    <a:pt x="2238231" y="2129240"/>
                  </a:lnTo>
                  <a:lnTo>
                    <a:pt x="2271579" y="2090064"/>
                  </a:lnTo>
                  <a:lnTo>
                    <a:pt x="2303367" y="2049535"/>
                  </a:lnTo>
                  <a:lnTo>
                    <a:pt x="2333554" y="2007694"/>
                  </a:lnTo>
                  <a:lnTo>
                    <a:pt x="2362098" y="1964582"/>
                  </a:lnTo>
                  <a:lnTo>
                    <a:pt x="2388958" y="1920239"/>
                  </a:lnTo>
                  <a:lnTo>
                    <a:pt x="2413930" y="1874843"/>
                  </a:lnTo>
                  <a:lnTo>
                    <a:pt x="2436994" y="1828587"/>
                  </a:lnTo>
                  <a:lnTo>
                    <a:pt x="2458135" y="1781531"/>
                  </a:lnTo>
                  <a:lnTo>
                    <a:pt x="2477338" y="1733735"/>
                  </a:lnTo>
                  <a:lnTo>
                    <a:pt x="2494586" y="1685259"/>
                  </a:lnTo>
                  <a:lnTo>
                    <a:pt x="2509863" y="1636163"/>
                  </a:lnTo>
                  <a:lnTo>
                    <a:pt x="2523155" y="1586506"/>
                  </a:lnTo>
                  <a:lnTo>
                    <a:pt x="2534445" y="1536350"/>
                  </a:lnTo>
                  <a:lnTo>
                    <a:pt x="2543718" y="1485753"/>
                  </a:lnTo>
                  <a:lnTo>
                    <a:pt x="2550958" y="1434775"/>
                  </a:lnTo>
                  <a:lnTo>
                    <a:pt x="2556148" y="1383477"/>
                  </a:lnTo>
                  <a:lnTo>
                    <a:pt x="2559274" y="1331919"/>
                  </a:lnTo>
                  <a:lnTo>
                    <a:pt x="2560320" y="1280160"/>
                  </a:lnTo>
                  <a:lnTo>
                    <a:pt x="2559274" y="1228398"/>
                  </a:lnTo>
                  <a:lnTo>
                    <a:pt x="2556148" y="1176837"/>
                  </a:lnTo>
                  <a:lnTo>
                    <a:pt x="2550958" y="1125537"/>
                  </a:lnTo>
                  <a:lnTo>
                    <a:pt x="2543718" y="1074558"/>
                  </a:lnTo>
                  <a:lnTo>
                    <a:pt x="2534445" y="1023960"/>
                  </a:lnTo>
                  <a:lnTo>
                    <a:pt x="2523155" y="973803"/>
                  </a:lnTo>
                  <a:lnTo>
                    <a:pt x="2509863" y="924147"/>
                  </a:lnTo>
                  <a:lnTo>
                    <a:pt x="2494586" y="875051"/>
                  </a:lnTo>
                  <a:lnTo>
                    <a:pt x="2477338" y="826576"/>
                  </a:lnTo>
                  <a:lnTo>
                    <a:pt x="2458135" y="778781"/>
                  </a:lnTo>
                  <a:lnTo>
                    <a:pt x="2436994" y="731727"/>
                  </a:lnTo>
                  <a:lnTo>
                    <a:pt x="2413930" y="685473"/>
                  </a:lnTo>
                  <a:lnTo>
                    <a:pt x="2388958" y="640079"/>
                  </a:lnTo>
                  <a:lnTo>
                    <a:pt x="2362098" y="595735"/>
                  </a:lnTo>
                  <a:lnTo>
                    <a:pt x="2333554" y="552620"/>
                  </a:lnTo>
                  <a:lnTo>
                    <a:pt x="2303367" y="510777"/>
                  </a:lnTo>
                  <a:lnTo>
                    <a:pt x="2271579" y="470247"/>
                  </a:lnTo>
                  <a:lnTo>
                    <a:pt x="2238231" y="431070"/>
                  </a:lnTo>
                  <a:lnTo>
                    <a:pt x="2203364" y="393290"/>
                  </a:lnTo>
                  <a:lnTo>
                    <a:pt x="2167020" y="356945"/>
                  </a:lnTo>
                  <a:lnTo>
                    <a:pt x="2129240" y="322079"/>
                  </a:lnTo>
                  <a:lnTo>
                    <a:pt x="2090064" y="288732"/>
                  </a:lnTo>
                  <a:lnTo>
                    <a:pt x="2049535" y="256945"/>
                  </a:lnTo>
                  <a:lnTo>
                    <a:pt x="2007694" y="226760"/>
                  </a:lnTo>
                  <a:lnTo>
                    <a:pt x="1964582" y="198218"/>
                  </a:lnTo>
                  <a:lnTo>
                    <a:pt x="1920240" y="171361"/>
                  </a:lnTo>
                  <a:lnTo>
                    <a:pt x="1874843" y="146387"/>
                  </a:lnTo>
                  <a:lnTo>
                    <a:pt x="1828587" y="123321"/>
                  </a:lnTo>
                  <a:lnTo>
                    <a:pt x="1781531" y="102179"/>
                  </a:lnTo>
                  <a:lnTo>
                    <a:pt x="1733735" y="82976"/>
                  </a:lnTo>
                  <a:lnTo>
                    <a:pt x="1685259" y="65728"/>
                  </a:lnTo>
                  <a:lnTo>
                    <a:pt x="1636163" y="50451"/>
                  </a:lnTo>
                  <a:lnTo>
                    <a:pt x="1586506" y="37159"/>
                  </a:lnTo>
                  <a:lnTo>
                    <a:pt x="1536350" y="25870"/>
                  </a:lnTo>
                  <a:lnTo>
                    <a:pt x="1485753" y="16598"/>
                  </a:lnTo>
                  <a:lnTo>
                    <a:pt x="1434775" y="9360"/>
                  </a:lnTo>
                  <a:lnTo>
                    <a:pt x="1383477" y="4170"/>
                  </a:lnTo>
                  <a:lnTo>
                    <a:pt x="1331919" y="1045"/>
                  </a:lnTo>
                  <a:lnTo>
                    <a:pt x="1280160" y="0"/>
                  </a:lnTo>
                  <a:close/>
                </a:path>
              </a:pathLst>
            </a:custGeom>
            <a:solidFill>
              <a:srgbClr val="7B39EC">
                <a:alpha val="11999"/>
              </a:srgbClr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" name="object 4"/>
            <p:cNvSpPr/>
            <p:nvPr/>
          </p:nvSpPr>
          <p:spPr>
            <a:xfrm>
              <a:off x="6400444" y="548286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0" y="1280160"/>
                  </a:moveTo>
                  <a:lnTo>
                    <a:pt x="1045" y="1228398"/>
                  </a:lnTo>
                  <a:lnTo>
                    <a:pt x="4170" y="1176837"/>
                  </a:lnTo>
                  <a:lnTo>
                    <a:pt x="9360" y="1125537"/>
                  </a:lnTo>
                  <a:lnTo>
                    <a:pt x="16598" y="1074558"/>
                  </a:lnTo>
                  <a:lnTo>
                    <a:pt x="25870" y="1023960"/>
                  </a:lnTo>
                  <a:lnTo>
                    <a:pt x="37159" y="973803"/>
                  </a:lnTo>
                  <a:lnTo>
                    <a:pt x="50451" y="924147"/>
                  </a:lnTo>
                  <a:lnTo>
                    <a:pt x="65728" y="875051"/>
                  </a:lnTo>
                  <a:lnTo>
                    <a:pt x="82976" y="826576"/>
                  </a:lnTo>
                  <a:lnTo>
                    <a:pt x="102179" y="778781"/>
                  </a:lnTo>
                  <a:lnTo>
                    <a:pt x="123321" y="731727"/>
                  </a:lnTo>
                  <a:lnTo>
                    <a:pt x="146387" y="685473"/>
                  </a:lnTo>
                  <a:lnTo>
                    <a:pt x="171361" y="640079"/>
                  </a:lnTo>
                  <a:lnTo>
                    <a:pt x="198218" y="595735"/>
                  </a:lnTo>
                  <a:lnTo>
                    <a:pt x="226760" y="552620"/>
                  </a:lnTo>
                  <a:lnTo>
                    <a:pt x="256945" y="510777"/>
                  </a:lnTo>
                  <a:lnTo>
                    <a:pt x="288732" y="470247"/>
                  </a:lnTo>
                  <a:lnTo>
                    <a:pt x="322079" y="431070"/>
                  </a:lnTo>
                  <a:lnTo>
                    <a:pt x="356945" y="393290"/>
                  </a:lnTo>
                  <a:lnTo>
                    <a:pt x="393290" y="356945"/>
                  </a:lnTo>
                  <a:lnTo>
                    <a:pt x="431070" y="322079"/>
                  </a:lnTo>
                  <a:lnTo>
                    <a:pt x="470247" y="288732"/>
                  </a:lnTo>
                  <a:lnTo>
                    <a:pt x="510777" y="256945"/>
                  </a:lnTo>
                  <a:lnTo>
                    <a:pt x="552620" y="226760"/>
                  </a:lnTo>
                  <a:lnTo>
                    <a:pt x="595735" y="198218"/>
                  </a:lnTo>
                  <a:lnTo>
                    <a:pt x="640079" y="171361"/>
                  </a:lnTo>
                  <a:lnTo>
                    <a:pt x="685473" y="146387"/>
                  </a:lnTo>
                  <a:lnTo>
                    <a:pt x="731727" y="123321"/>
                  </a:lnTo>
                  <a:lnTo>
                    <a:pt x="778781" y="102179"/>
                  </a:lnTo>
                  <a:lnTo>
                    <a:pt x="826576" y="82976"/>
                  </a:lnTo>
                  <a:lnTo>
                    <a:pt x="875051" y="65728"/>
                  </a:lnTo>
                  <a:lnTo>
                    <a:pt x="924147" y="50451"/>
                  </a:lnTo>
                  <a:lnTo>
                    <a:pt x="973803" y="37159"/>
                  </a:lnTo>
                  <a:lnTo>
                    <a:pt x="1023960" y="25870"/>
                  </a:lnTo>
                  <a:lnTo>
                    <a:pt x="1074558" y="16598"/>
                  </a:lnTo>
                  <a:lnTo>
                    <a:pt x="1125537" y="9360"/>
                  </a:lnTo>
                  <a:lnTo>
                    <a:pt x="1176837" y="4170"/>
                  </a:lnTo>
                  <a:lnTo>
                    <a:pt x="1228398" y="1045"/>
                  </a:lnTo>
                  <a:lnTo>
                    <a:pt x="1280160" y="0"/>
                  </a:lnTo>
                  <a:lnTo>
                    <a:pt x="1331919" y="1045"/>
                  </a:lnTo>
                  <a:lnTo>
                    <a:pt x="1383477" y="4170"/>
                  </a:lnTo>
                  <a:lnTo>
                    <a:pt x="1434775" y="9360"/>
                  </a:lnTo>
                  <a:lnTo>
                    <a:pt x="1485753" y="16598"/>
                  </a:lnTo>
                  <a:lnTo>
                    <a:pt x="1536350" y="25870"/>
                  </a:lnTo>
                  <a:lnTo>
                    <a:pt x="1586506" y="37159"/>
                  </a:lnTo>
                  <a:lnTo>
                    <a:pt x="1636163" y="50451"/>
                  </a:lnTo>
                  <a:lnTo>
                    <a:pt x="1685259" y="65728"/>
                  </a:lnTo>
                  <a:lnTo>
                    <a:pt x="1733735" y="82976"/>
                  </a:lnTo>
                  <a:lnTo>
                    <a:pt x="1781531" y="102179"/>
                  </a:lnTo>
                  <a:lnTo>
                    <a:pt x="1828587" y="123321"/>
                  </a:lnTo>
                  <a:lnTo>
                    <a:pt x="1874843" y="146387"/>
                  </a:lnTo>
                  <a:lnTo>
                    <a:pt x="1920240" y="171361"/>
                  </a:lnTo>
                  <a:lnTo>
                    <a:pt x="1964582" y="198218"/>
                  </a:lnTo>
                  <a:lnTo>
                    <a:pt x="2007694" y="226760"/>
                  </a:lnTo>
                  <a:lnTo>
                    <a:pt x="2049535" y="256945"/>
                  </a:lnTo>
                  <a:lnTo>
                    <a:pt x="2090064" y="288732"/>
                  </a:lnTo>
                  <a:lnTo>
                    <a:pt x="2129240" y="322079"/>
                  </a:lnTo>
                  <a:lnTo>
                    <a:pt x="2167020" y="356945"/>
                  </a:lnTo>
                  <a:lnTo>
                    <a:pt x="2203364" y="393290"/>
                  </a:lnTo>
                  <a:lnTo>
                    <a:pt x="2238231" y="431070"/>
                  </a:lnTo>
                  <a:lnTo>
                    <a:pt x="2271579" y="470247"/>
                  </a:lnTo>
                  <a:lnTo>
                    <a:pt x="2303367" y="510777"/>
                  </a:lnTo>
                  <a:lnTo>
                    <a:pt x="2333554" y="552620"/>
                  </a:lnTo>
                  <a:lnTo>
                    <a:pt x="2362098" y="595735"/>
                  </a:lnTo>
                  <a:lnTo>
                    <a:pt x="2388958" y="640079"/>
                  </a:lnTo>
                  <a:lnTo>
                    <a:pt x="2413930" y="685473"/>
                  </a:lnTo>
                  <a:lnTo>
                    <a:pt x="2436994" y="731727"/>
                  </a:lnTo>
                  <a:lnTo>
                    <a:pt x="2458135" y="778781"/>
                  </a:lnTo>
                  <a:lnTo>
                    <a:pt x="2477338" y="826576"/>
                  </a:lnTo>
                  <a:lnTo>
                    <a:pt x="2494586" y="875051"/>
                  </a:lnTo>
                  <a:lnTo>
                    <a:pt x="2509863" y="924147"/>
                  </a:lnTo>
                  <a:lnTo>
                    <a:pt x="2523155" y="973803"/>
                  </a:lnTo>
                  <a:lnTo>
                    <a:pt x="2534445" y="1023960"/>
                  </a:lnTo>
                  <a:lnTo>
                    <a:pt x="2543718" y="1074558"/>
                  </a:lnTo>
                  <a:lnTo>
                    <a:pt x="2550958" y="1125537"/>
                  </a:lnTo>
                  <a:lnTo>
                    <a:pt x="2556148" y="1176837"/>
                  </a:lnTo>
                  <a:lnTo>
                    <a:pt x="2559274" y="1228398"/>
                  </a:lnTo>
                  <a:lnTo>
                    <a:pt x="2560320" y="1280160"/>
                  </a:lnTo>
                  <a:lnTo>
                    <a:pt x="2559274" y="1331919"/>
                  </a:lnTo>
                  <a:lnTo>
                    <a:pt x="2556148" y="1383477"/>
                  </a:lnTo>
                  <a:lnTo>
                    <a:pt x="2550958" y="1434775"/>
                  </a:lnTo>
                  <a:lnTo>
                    <a:pt x="2543718" y="1485753"/>
                  </a:lnTo>
                  <a:lnTo>
                    <a:pt x="2534445" y="1536350"/>
                  </a:lnTo>
                  <a:lnTo>
                    <a:pt x="2523155" y="1586506"/>
                  </a:lnTo>
                  <a:lnTo>
                    <a:pt x="2509863" y="1636163"/>
                  </a:lnTo>
                  <a:lnTo>
                    <a:pt x="2494586" y="1685259"/>
                  </a:lnTo>
                  <a:lnTo>
                    <a:pt x="2477338" y="1733735"/>
                  </a:lnTo>
                  <a:lnTo>
                    <a:pt x="2458135" y="1781531"/>
                  </a:lnTo>
                  <a:lnTo>
                    <a:pt x="2436994" y="1828587"/>
                  </a:lnTo>
                  <a:lnTo>
                    <a:pt x="2413930" y="1874843"/>
                  </a:lnTo>
                  <a:lnTo>
                    <a:pt x="2388958" y="1920239"/>
                  </a:lnTo>
                  <a:lnTo>
                    <a:pt x="2362098" y="1964582"/>
                  </a:lnTo>
                  <a:lnTo>
                    <a:pt x="2333554" y="2007694"/>
                  </a:lnTo>
                  <a:lnTo>
                    <a:pt x="2303367" y="2049535"/>
                  </a:lnTo>
                  <a:lnTo>
                    <a:pt x="2271579" y="2090064"/>
                  </a:lnTo>
                  <a:lnTo>
                    <a:pt x="2238231" y="2129240"/>
                  </a:lnTo>
                  <a:lnTo>
                    <a:pt x="2203364" y="2167020"/>
                  </a:lnTo>
                  <a:lnTo>
                    <a:pt x="2167020" y="2203364"/>
                  </a:lnTo>
                  <a:lnTo>
                    <a:pt x="2129240" y="2238231"/>
                  </a:lnTo>
                  <a:lnTo>
                    <a:pt x="2090064" y="2271579"/>
                  </a:lnTo>
                  <a:lnTo>
                    <a:pt x="2049535" y="2303367"/>
                  </a:lnTo>
                  <a:lnTo>
                    <a:pt x="2007694" y="2333554"/>
                  </a:lnTo>
                  <a:lnTo>
                    <a:pt x="1964582" y="2362098"/>
                  </a:lnTo>
                  <a:lnTo>
                    <a:pt x="1920240" y="2388958"/>
                  </a:lnTo>
                  <a:lnTo>
                    <a:pt x="1874843" y="2413930"/>
                  </a:lnTo>
                  <a:lnTo>
                    <a:pt x="1828587" y="2436994"/>
                  </a:lnTo>
                  <a:lnTo>
                    <a:pt x="1781531" y="2458135"/>
                  </a:lnTo>
                  <a:lnTo>
                    <a:pt x="1733735" y="2477338"/>
                  </a:lnTo>
                  <a:lnTo>
                    <a:pt x="1685259" y="2494586"/>
                  </a:lnTo>
                  <a:lnTo>
                    <a:pt x="1636163" y="2509863"/>
                  </a:lnTo>
                  <a:lnTo>
                    <a:pt x="1586506" y="2523155"/>
                  </a:lnTo>
                  <a:lnTo>
                    <a:pt x="1536350" y="2534445"/>
                  </a:lnTo>
                  <a:lnTo>
                    <a:pt x="1485753" y="2543718"/>
                  </a:lnTo>
                  <a:lnTo>
                    <a:pt x="1434775" y="2550958"/>
                  </a:lnTo>
                  <a:lnTo>
                    <a:pt x="1383477" y="2556148"/>
                  </a:lnTo>
                  <a:lnTo>
                    <a:pt x="1331919" y="2559274"/>
                  </a:lnTo>
                  <a:lnTo>
                    <a:pt x="1280160" y="2560320"/>
                  </a:lnTo>
                  <a:lnTo>
                    <a:pt x="1228398" y="2559274"/>
                  </a:lnTo>
                  <a:lnTo>
                    <a:pt x="1176837" y="2556148"/>
                  </a:lnTo>
                  <a:lnTo>
                    <a:pt x="1125537" y="2550958"/>
                  </a:lnTo>
                  <a:lnTo>
                    <a:pt x="1074558" y="2543718"/>
                  </a:lnTo>
                  <a:lnTo>
                    <a:pt x="1023960" y="2534445"/>
                  </a:lnTo>
                  <a:lnTo>
                    <a:pt x="973803" y="2523155"/>
                  </a:lnTo>
                  <a:lnTo>
                    <a:pt x="924147" y="2509863"/>
                  </a:lnTo>
                  <a:lnTo>
                    <a:pt x="875051" y="2494586"/>
                  </a:lnTo>
                  <a:lnTo>
                    <a:pt x="826576" y="2477338"/>
                  </a:lnTo>
                  <a:lnTo>
                    <a:pt x="778781" y="2458135"/>
                  </a:lnTo>
                  <a:lnTo>
                    <a:pt x="731727" y="2436994"/>
                  </a:lnTo>
                  <a:lnTo>
                    <a:pt x="685473" y="2413930"/>
                  </a:lnTo>
                  <a:lnTo>
                    <a:pt x="640079" y="2388958"/>
                  </a:lnTo>
                  <a:lnTo>
                    <a:pt x="595735" y="2362098"/>
                  </a:lnTo>
                  <a:lnTo>
                    <a:pt x="552620" y="2333554"/>
                  </a:lnTo>
                  <a:lnTo>
                    <a:pt x="510777" y="2303367"/>
                  </a:lnTo>
                  <a:lnTo>
                    <a:pt x="470247" y="2271579"/>
                  </a:lnTo>
                  <a:lnTo>
                    <a:pt x="431070" y="2238231"/>
                  </a:lnTo>
                  <a:lnTo>
                    <a:pt x="393290" y="2203364"/>
                  </a:lnTo>
                  <a:lnTo>
                    <a:pt x="356945" y="2167020"/>
                  </a:lnTo>
                  <a:lnTo>
                    <a:pt x="322079" y="2129240"/>
                  </a:lnTo>
                  <a:lnTo>
                    <a:pt x="288732" y="2090064"/>
                  </a:lnTo>
                  <a:lnTo>
                    <a:pt x="256945" y="2049535"/>
                  </a:lnTo>
                  <a:lnTo>
                    <a:pt x="226760" y="2007694"/>
                  </a:lnTo>
                  <a:lnTo>
                    <a:pt x="198218" y="1964582"/>
                  </a:lnTo>
                  <a:lnTo>
                    <a:pt x="171361" y="1920239"/>
                  </a:lnTo>
                  <a:lnTo>
                    <a:pt x="146387" y="1874843"/>
                  </a:lnTo>
                  <a:lnTo>
                    <a:pt x="123321" y="1828587"/>
                  </a:lnTo>
                  <a:lnTo>
                    <a:pt x="102179" y="1781531"/>
                  </a:lnTo>
                  <a:lnTo>
                    <a:pt x="82976" y="1733735"/>
                  </a:lnTo>
                  <a:lnTo>
                    <a:pt x="65728" y="1685259"/>
                  </a:lnTo>
                  <a:lnTo>
                    <a:pt x="50451" y="1636163"/>
                  </a:lnTo>
                  <a:lnTo>
                    <a:pt x="37159" y="1586506"/>
                  </a:lnTo>
                  <a:lnTo>
                    <a:pt x="25870" y="1536350"/>
                  </a:lnTo>
                  <a:lnTo>
                    <a:pt x="16598" y="1485753"/>
                  </a:lnTo>
                  <a:lnTo>
                    <a:pt x="9360" y="1434775"/>
                  </a:lnTo>
                  <a:lnTo>
                    <a:pt x="4170" y="1383477"/>
                  </a:lnTo>
                  <a:lnTo>
                    <a:pt x="1045" y="1331919"/>
                  </a:lnTo>
                  <a:lnTo>
                    <a:pt x="0" y="1280160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6748195" y="895682"/>
              <a:ext cx="1874520" cy="1875155"/>
            </a:xfrm>
            <a:custGeom>
              <a:avLst/>
              <a:gdLst/>
              <a:ahLst/>
              <a:cxnLst/>
              <a:rect l="l" t="t" r="r" b="b"/>
              <a:pathLst>
                <a:path w="1874520" h="1875155">
                  <a:moveTo>
                    <a:pt x="0" y="937437"/>
                  </a:moveTo>
                  <a:lnTo>
                    <a:pt x="1292" y="888185"/>
                  </a:lnTo>
                  <a:lnTo>
                    <a:pt x="5152" y="839202"/>
                  </a:lnTo>
                  <a:lnTo>
                    <a:pt x="11558" y="790586"/>
                  </a:lnTo>
                  <a:lnTo>
                    <a:pt x="20484" y="742434"/>
                  </a:lnTo>
                  <a:lnTo>
                    <a:pt x="31907" y="694843"/>
                  </a:lnTo>
                  <a:lnTo>
                    <a:pt x="45803" y="647912"/>
                  </a:lnTo>
                  <a:lnTo>
                    <a:pt x="62148" y="601736"/>
                  </a:lnTo>
                  <a:lnTo>
                    <a:pt x="80919" y="556414"/>
                  </a:lnTo>
                  <a:lnTo>
                    <a:pt x="102091" y="512042"/>
                  </a:lnTo>
                  <a:lnTo>
                    <a:pt x="125641" y="468718"/>
                  </a:lnTo>
                  <a:lnTo>
                    <a:pt x="151343" y="426697"/>
                  </a:lnTo>
                  <a:lnTo>
                    <a:pt x="179154" y="386210"/>
                  </a:lnTo>
                  <a:lnTo>
                    <a:pt x="208999" y="347326"/>
                  </a:lnTo>
                  <a:lnTo>
                    <a:pt x="240806" y="310112"/>
                  </a:lnTo>
                  <a:lnTo>
                    <a:pt x="274500" y="274634"/>
                  </a:lnTo>
                  <a:lnTo>
                    <a:pt x="310009" y="240960"/>
                  </a:lnTo>
                  <a:lnTo>
                    <a:pt x="347259" y="209156"/>
                  </a:lnTo>
                  <a:lnTo>
                    <a:pt x="386176" y="179290"/>
                  </a:lnTo>
                  <a:lnTo>
                    <a:pt x="426687" y="151430"/>
                  </a:lnTo>
                  <a:lnTo>
                    <a:pt x="468718" y="125641"/>
                  </a:lnTo>
                  <a:lnTo>
                    <a:pt x="512036" y="102177"/>
                  </a:lnTo>
                  <a:lnTo>
                    <a:pt x="556385" y="81055"/>
                  </a:lnTo>
                  <a:lnTo>
                    <a:pt x="601675" y="62305"/>
                  </a:lnTo>
                  <a:lnTo>
                    <a:pt x="647816" y="45956"/>
                  </a:lnTo>
                  <a:lnTo>
                    <a:pt x="694716" y="32040"/>
                  </a:lnTo>
                  <a:lnTo>
                    <a:pt x="742287" y="20586"/>
                  </a:lnTo>
                  <a:lnTo>
                    <a:pt x="790436" y="11625"/>
                  </a:lnTo>
                  <a:lnTo>
                    <a:pt x="839073" y="5186"/>
                  </a:lnTo>
                  <a:lnTo>
                    <a:pt x="888108" y="1301"/>
                  </a:lnTo>
                  <a:lnTo>
                    <a:pt x="937450" y="0"/>
                  </a:lnTo>
                  <a:lnTo>
                    <a:pt x="986692" y="1301"/>
                  </a:lnTo>
                  <a:lnTo>
                    <a:pt x="1035647" y="5186"/>
                  </a:lnTo>
                  <a:lnTo>
                    <a:pt x="1084222" y="11625"/>
                  </a:lnTo>
                  <a:lnTo>
                    <a:pt x="1132324" y="20586"/>
                  </a:lnTo>
                  <a:lnTo>
                    <a:pt x="1179860" y="32040"/>
                  </a:lnTo>
                  <a:lnTo>
                    <a:pt x="1226737" y="45956"/>
                  </a:lnTo>
                  <a:lnTo>
                    <a:pt x="1272862" y="62305"/>
                  </a:lnTo>
                  <a:lnTo>
                    <a:pt x="1318144" y="81055"/>
                  </a:lnTo>
                  <a:lnTo>
                    <a:pt x="1362487" y="102177"/>
                  </a:lnTo>
                  <a:lnTo>
                    <a:pt x="1405801" y="125641"/>
                  </a:lnTo>
                  <a:lnTo>
                    <a:pt x="1447832" y="151430"/>
                  </a:lnTo>
                  <a:lnTo>
                    <a:pt x="1488343" y="179290"/>
                  </a:lnTo>
                  <a:lnTo>
                    <a:pt x="1527260" y="209156"/>
                  </a:lnTo>
                  <a:lnTo>
                    <a:pt x="1564510" y="240960"/>
                  </a:lnTo>
                  <a:lnTo>
                    <a:pt x="1600019" y="274634"/>
                  </a:lnTo>
                  <a:lnTo>
                    <a:pt x="1633713" y="310112"/>
                  </a:lnTo>
                  <a:lnTo>
                    <a:pt x="1665520" y="347326"/>
                  </a:lnTo>
                  <a:lnTo>
                    <a:pt x="1695365" y="386210"/>
                  </a:lnTo>
                  <a:lnTo>
                    <a:pt x="1723176" y="426697"/>
                  </a:lnTo>
                  <a:lnTo>
                    <a:pt x="1748878" y="468718"/>
                  </a:lnTo>
                  <a:lnTo>
                    <a:pt x="1772431" y="512042"/>
                  </a:lnTo>
                  <a:lnTo>
                    <a:pt x="1793605" y="556414"/>
                  </a:lnTo>
                  <a:lnTo>
                    <a:pt x="1812377" y="601736"/>
                  </a:lnTo>
                  <a:lnTo>
                    <a:pt x="1828722" y="647912"/>
                  </a:lnTo>
                  <a:lnTo>
                    <a:pt x="1842617" y="694843"/>
                  </a:lnTo>
                  <a:lnTo>
                    <a:pt x="1854039" y="742434"/>
                  </a:lnTo>
                  <a:lnTo>
                    <a:pt x="1862964" y="790586"/>
                  </a:lnTo>
                  <a:lnTo>
                    <a:pt x="1869368" y="839202"/>
                  </a:lnTo>
                  <a:lnTo>
                    <a:pt x="1873228" y="888185"/>
                  </a:lnTo>
                  <a:lnTo>
                    <a:pt x="1874519" y="937437"/>
                  </a:lnTo>
                  <a:lnTo>
                    <a:pt x="1873228" y="986690"/>
                  </a:lnTo>
                  <a:lnTo>
                    <a:pt x="1869368" y="1035673"/>
                  </a:lnTo>
                  <a:lnTo>
                    <a:pt x="1862964" y="1084289"/>
                  </a:lnTo>
                  <a:lnTo>
                    <a:pt x="1854039" y="1132441"/>
                  </a:lnTo>
                  <a:lnTo>
                    <a:pt x="1842617" y="1180031"/>
                  </a:lnTo>
                  <a:lnTo>
                    <a:pt x="1828722" y="1226963"/>
                  </a:lnTo>
                  <a:lnTo>
                    <a:pt x="1812377" y="1273139"/>
                  </a:lnTo>
                  <a:lnTo>
                    <a:pt x="1793605" y="1318461"/>
                  </a:lnTo>
                  <a:lnTo>
                    <a:pt x="1772431" y="1362833"/>
                  </a:lnTo>
                  <a:lnTo>
                    <a:pt x="1748878" y="1406156"/>
                  </a:lnTo>
                  <a:lnTo>
                    <a:pt x="1723176" y="1448178"/>
                  </a:lnTo>
                  <a:lnTo>
                    <a:pt x="1695365" y="1488665"/>
                  </a:lnTo>
                  <a:lnTo>
                    <a:pt x="1665520" y="1527549"/>
                  </a:lnTo>
                  <a:lnTo>
                    <a:pt x="1633713" y="1564763"/>
                  </a:lnTo>
                  <a:lnTo>
                    <a:pt x="1600019" y="1600241"/>
                  </a:lnTo>
                  <a:lnTo>
                    <a:pt x="1564510" y="1633915"/>
                  </a:lnTo>
                  <a:lnTo>
                    <a:pt x="1527260" y="1665718"/>
                  </a:lnTo>
                  <a:lnTo>
                    <a:pt x="1488343" y="1695584"/>
                  </a:lnTo>
                  <a:lnTo>
                    <a:pt x="1447832" y="1723445"/>
                  </a:lnTo>
                  <a:lnTo>
                    <a:pt x="1405801" y="1749234"/>
                  </a:lnTo>
                  <a:lnTo>
                    <a:pt x="1362487" y="1772697"/>
                  </a:lnTo>
                  <a:lnTo>
                    <a:pt x="1318144" y="1793819"/>
                  </a:lnTo>
                  <a:lnTo>
                    <a:pt x="1272862" y="1812570"/>
                  </a:lnTo>
                  <a:lnTo>
                    <a:pt x="1226737" y="1828918"/>
                  </a:lnTo>
                  <a:lnTo>
                    <a:pt x="1179860" y="1842835"/>
                  </a:lnTo>
                  <a:lnTo>
                    <a:pt x="1132324" y="1854289"/>
                  </a:lnTo>
                  <a:lnTo>
                    <a:pt x="1084222" y="1863250"/>
                  </a:lnTo>
                  <a:lnTo>
                    <a:pt x="1035647" y="1869688"/>
                  </a:lnTo>
                  <a:lnTo>
                    <a:pt x="986692" y="1873573"/>
                  </a:lnTo>
                  <a:lnTo>
                    <a:pt x="937450" y="1874875"/>
                  </a:lnTo>
                  <a:lnTo>
                    <a:pt x="888108" y="1873573"/>
                  </a:lnTo>
                  <a:lnTo>
                    <a:pt x="839073" y="1869688"/>
                  </a:lnTo>
                  <a:lnTo>
                    <a:pt x="790436" y="1863250"/>
                  </a:lnTo>
                  <a:lnTo>
                    <a:pt x="742287" y="1854289"/>
                  </a:lnTo>
                  <a:lnTo>
                    <a:pt x="694716" y="1842835"/>
                  </a:lnTo>
                  <a:lnTo>
                    <a:pt x="647816" y="1828918"/>
                  </a:lnTo>
                  <a:lnTo>
                    <a:pt x="601675" y="1812570"/>
                  </a:lnTo>
                  <a:lnTo>
                    <a:pt x="556385" y="1793819"/>
                  </a:lnTo>
                  <a:lnTo>
                    <a:pt x="512036" y="1772697"/>
                  </a:lnTo>
                  <a:lnTo>
                    <a:pt x="468718" y="1749234"/>
                  </a:lnTo>
                  <a:lnTo>
                    <a:pt x="426687" y="1723445"/>
                  </a:lnTo>
                  <a:lnTo>
                    <a:pt x="386176" y="1695584"/>
                  </a:lnTo>
                  <a:lnTo>
                    <a:pt x="347259" y="1665718"/>
                  </a:lnTo>
                  <a:lnTo>
                    <a:pt x="310009" y="1633915"/>
                  </a:lnTo>
                  <a:lnTo>
                    <a:pt x="274500" y="1600241"/>
                  </a:lnTo>
                  <a:lnTo>
                    <a:pt x="240806" y="1564763"/>
                  </a:lnTo>
                  <a:lnTo>
                    <a:pt x="208999" y="1527549"/>
                  </a:lnTo>
                  <a:lnTo>
                    <a:pt x="179154" y="1488665"/>
                  </a:lnTo>
                  <a:lnTo>
                    <a:pt x="151343" y="1448178"/>
                  </a:lnTo>
                  <a:lnTo>
                    <a:pt x="125641" y="1406156"/>
                  </a:lnTo>
                  <a:lnTo>
                    <a:pt x="102091" y="1362833"/>
                  </a:lnTo>
                  <a:lnTo>
                    <a:pt x="80919" y="1318461"/>
                  </a:lnTo>
                  <a:lnTo>
                    <a:pt x="62148" y="1273139"/>
                  </a:lnTo>
                  <a:lnTo>
                    <a:pt x="45803" y="1226963"/>
                  </a:lnTo>
                  <a:lnTo>
                    <a:pt x="31907" y="1180031"/>
                  </a:lnTo>
                  <a:lnTo>
                    <a:pt x="20484" y="1132441"/>
                  </a:lnTo>
                  <a:lnTo>
                    <a:pt x="11558" y="1084289"/>
                  </a:lnTo>
                  <a:lnTo>
                    <a:pt x="5152" y="1035673"/>
                  </a:lnTo>
                  <a:lnTo>
                    <a:pt x="1292" y="986690"/>
                  </a:lnTo>
                  <a:lnTo>
                    <a:pt x="0" y="937437"/>
                  </a:lnTo>
                  <a:close/>
                </a:path>
              </a:pathLst>
            </a:custGeom>
            <a:ln w="1907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7095604" y="1243446"/>
              <a:ext cx="1170940" cy="1170305"/>
            </a:xfrm>
            <a:custGeom>
              <a:avLst/>
              <a:gdLst/>
              <a:ahLst/>
              <a:cxnLst/>
              <a:rect l="l" t="t" r="r" b="b"/>
              <a:pathLst>
                <a:path w="1170940" h="1170305">
                  <a:moveTo>
                    <a:pt x="585000" y="0"/>
                  </a:moveTo>
                  <a:lnTo>
                    <a:pt x="533895" y="2236"/>
                  </a:lnTo>
                  <a:lnTo>
                    <a:pt x="483370" y="8893"/>
                  </a:lnTo>
                  <a:lnTo>
                    <a:pt x="433706" y="19889"/>
                  </a:lnTo>
                  <a:lnTo>
                    <a:pt x="385182" y="35146"/>
                  </a:lnTo>
                  <a:lnTo>
                    <a:pt x="338077" y="54582"/>
                  </a:lnTo>
                  <a:lnTo>
                    <a:pt x="292671" y="78117"/>
                  </a:lnTo>
                  <a:lnTo>
                    <a:pt x="249482" y="105681"/>
                  </a:lnTo>
                  <a:lnTo>
                    <a:pt x="208981" y="136766"/>
                  </a:lnTo>
                  <a:lnTo>
                    <a:pt x="171399" y="171172"/>
                  </a:lnTo>
                  <a:lnTo>
                    <a:pt x="136966" y="208699"/>
                  </a:lnTo>
                  <a:lnTo>
                    <a:pt x="105914" y="249147"/>
                  </a:lnTo>
                  <a:lnTo>
                    <a:pt x="78473" y="292315"/>
                  </a:lnTo>
                  <a:lnTo>
                    <a:pt x="54787" y="337747"/>
                  </a:lnTo>
                  <a:lnTo>
                    <a:pt x="35251" y="384918"/>
                  </a:lnTo>
                  <a:lnTo>
                    <a:pt x="19934" y="433528"/>
                  </a:lnTo>
                  <a:lnTo>
                    <a:pt x="8906" y="483278"/>
                  </a:lnTo>
                  <a:lnTo>
                    <a:pt x="2238" y="533869"/>
                  </a:lnTo>
                  <a:lnTo>
                    <a:pt x="0" y="585000"/>
                  </a:lnTo>
                  <a:lnTo>
                    <a:pt x="2238" y="636126"/>
                  </a:lnTo>
                  <a:lnTo>
                    <a:pt x="8906" y="686715"/>
                  </a:lnTo>
                  <a:lnTo>
                    <a:pt x="19934" y="736465"/>
                  </a:lnTo>
                  <a:lnTo>
                    <a:pt x="35251" y="785074"/>
                  </a:lnTo>
                  <a:lnTo>
                    <a:pt x="54787" y="832244"/>
                  </a:lnTo>
                  <a:lnTo>
                    <a:pt x="78473" y="877671"/>
                  </a:lnTo>
                  <a:lnTo>
                    <a:pt x="105914" y="920840"/>
                  </a:lnTo>
                  <a:lnTo>
                    <a:pt x="136966" y="961288"/>
                  </a:lnTo>
                  <a:lnTo>
                    <a:pt x="171399" y="998815"/>
                  </a:lnTo>
                  <a:lnTo>
                    <a:pt x="208981" y="1033221"/>
                  </a:lnTo>
                  <a:lnTo>
                    <a:pt x="249482" y="1064306"/>
                  </a:lnTo>
                  <a:lnTo>
                    <a:pt x="292671" y="1091869"/>
                  </a:lnTo>
                  <a:lnTo>
                    <a:pt x="338077" y="1115410"/>
                  </a:lnTo>
                  <a:lnTo>
                    <a:pt x="385182" y="1134850"/>
                  </a:lnTo>
                  <a:lnTo>
                    <a:pt x="433706" y="1150108"/>
                  </a:lnTo>
                  <a:lnTo>
                    <a:pt x="483370" y="1161106"/>
                  </a:lnTo>
                  <a:lnTo>
                    <a:pt x="533895" y="1167763"/>
                  </a:lnTo>
                  <a:lnTo>
                    <a:pt x="585000" y="1170000"/>
                  </a:lnTo>
                  <a:lnTo>
                    <a:pt x="636254" y="1167763"/>
                  </a:lnTo>
                  <a:lnTo>
                    <a:pt x="686879" y="1161106"/>
                  </a:lnTo>
                  <a:lnTo>
                    <a:pt x="736603" y="1150108"/>
                  </a:lnTo>
                  <a:lnTo>
                    <a:pt x="785156" y="1134850"/>
                  </a:lnTo>
                  <a:lnTo>
                    <a:pt x="832269" y="1115410"/>
                  </a:lnTo>
                  <a:lnTo>
                    <a:pt x="877671" y="1091869"/>
                  </a:lnTo>
                  <a:lnTo>
                    <a:pt x="920865" y="1064306"/>
                  </a:lnTo>
                  <a:lnTo>
                    <a:pt x="961367" y="1033221"/>
                  </a:lnTo>
                  <a:lnTo>
                    <a:pt x="998948" y="998815"/>
                  </a:lnTo>
                  <a:lnTo>
                    <a:pt x="1033379" y="961288"/>
                  </a:lnTo>
                  <a:lnTo>
                    <a:pt x="1064429" y="920840"/>
                  </a:lnTo>
                  <a:lnTo>
                    <a:pt x="1091869" y="877671"/>
                  </a:lnTo>
                  <a:lnTo>
                    <a:pt x="1115560" y="832244"/>
                  </a:lnTo>
                  <a:lnTo>
                    <a:pt x="1135100" y="785074"/>
                  </a:lnTo>
                  <a:lnTo>
                    <a:pt x="1150419" y="736465"/>
                  </a:lnTo>
                  <a:lnTo>
                    <a:pt x="1161448" y="686715"/>
                  </a:lnTo>
                  <a:lnTo>
                    <a:pt x="1168117" y="636126"/>
                  </a:lnTo>
                  <a:lnTo>
                    <a:pt x="1170355" y="585000"/>
                  </a:lnTo>
                  <a:lnTo>
                    <a:pt x="1168117" y="533869"/>
                  </a:lnTo>
                  <a:lnTo>
                    <a:pt x="1161448" y="483278"/>
                  </a:lnTo>
                  <a:lnTo>
                    <a:pt x="1150419" y="433528"/>
                  </a:lnTo>
                  <a:lnTo>
                    <a:pt x="1135100" y="384918"/>
                  </a:lnTo>
                  <a:lnTo>
                    <a:pt x="1115560" y="337747"/>
                  </a:lnTo>
                  <a:lnTo>
                    <a:pt x="1091869" y="292315"/>
                  </a:lnTo>
                  <a:lnTo>
                    <a:pt x="1064429" y="249147"/>
                  </a:lnTo>
                  <a:lnTo>
                    <a:pt x="1033379" y="208699"/>
                  </a:lnTo>
                  <a:lnTo>
                    <a:pt x="998948" y="171172"/>
                  </a:lnTo>
                  <a:lnTo>
                    <a:pt x="961367" y="136766"/>
                  </a:lnTo>
                  <a:lnTo>
                    <a:pt x="920865" y="105681"/>
                  </a:lnTo>
                  <a:lnTo>
                    <a:pt x="877671" y="78117"/>
                  </a:lnTo>
                  <a:lnTo>
                    <a:pt x="832269" y="54582"/>
                  </a:lnTo>
                  <a:lnTo>
                    <a:pt x="785156" y="35146"/>
                  </a:lnTo>
                  <a:lnTo>
                    <a:pt x="736603" y="19889"/>
                  </a:lnTo>
                  <a:lnTo>
                    <a:pt x="686879" y="8893"/>
                  </a:lnTo>
                  <a:lnTo>
                    <a:pt x="636254" y="2236"/>
                  </a:lnTo>
                  <a:lnTo>
                    <a:pt x="585000" y="0"/>
                  </a:lnTo>
                  <a:close/>
                </a:path>
              </a:pathLst>
            </a:custGeom>
            <a:solidFill>
              <a:srgbClr val="05D59F">
                <a:alpha val="34999"/>
              </a:srgbClr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7095604" y="1243446"/>
              <a:ext cx="1170940" cy="1170305"/>
            </a:xfrm>
            <a:custGeom>
              <a:avLst/>
              <a:gdLst/>
              <a:ahLst/>
              <a:cxnLst/>
              <a:rect l="l" t="t" r="r" b="b"/>
              <a:pathLst>
                <a:path w="1170940" h="1170305">
                  <a:moveTo>
                    <a:pt x="0" y="585000"/>
                  </a:moveTo>
                  <a:lnTo>
                    <a:pt x="2238" y="533869"/>
                  </a:lnTo>
                  <a:lnTo>
                    <a:pt x="8906" y="483278"/>
                  </a:lnTo>
                  <a:lnTo>
                    <a:pt x="19934" y="433528"/>
                  </a:lnTo>
                  <a:lnTo>
                    <a:pt x="35251" y="384918"/>
                  </a:lnTo>
                  <a:lnTo>
                    <a:pt x="54787" y="337747"/>
                  </a:lnTo>
                  <a:lnTo>
                    <a:pt x="78473" y="292315"/>
                  </a:lnTo>
                  <a:lnTo>
                    <a:pt x="105914" y="249147"/>
                  </a:lnTo>
                  <a:lnTo>
                    <a:pt x="136966" y="208699"/>
                  </a:lnTo>
                  <a:lnTo>
                    <a:pt x="171399" y="171172"/>
                  </a:lnTo>
                  <a:lnTo>
                    <a:pt x="208981" y="136766"/>
                  </a:lnTo>
                  <a:lnTo>
                    <a:pt x="249482" y="105681"/>
                  </a:lnTo>
                  <a:lnTo>
                    <a:pt x="292671" y="78117"/>
                  </a:lnTo>
                  <a:lnTo>
                    <a:pt x="338077" y="54582"/>
                  </a:lnTo>
                  <a:lnTo>
                    <a:pt x="385182" y="35146"/>
                  </a:lnTo>
                  <a:lnTo>
                    <a:pt x="433706" y="19889"/>
                  </a:lnTo>
                  <a:lnTo>
                    <a:pt x="483370" y="8893"/>
                  </a:lnTo>
                  <a:lnTo>
                    <a:pt x="533895" y="2236"/>
                  </a:lnTo>
                  <a:lnTo>
                    <a:pt x="585000" y="0"/>
                  </a:lnTo>
                  <a:lnTo>
                    <a:pt x="636254" y="2236"/>
                  </a:lnTo>
                  <a:lnTo>
                    <a:pt x="686879" y="8893"/>
                  </a:lnTo>
                  <a:lnTo>
                    <a:pt x="736603" y="19889"/>
                  </a:lnTo>
                  <a:lnTo>
                    <a:pt x="785156" y="35146"/>
                  </a:lnTo>
                  <a:lnTo>
                    <a:pt x="832269" y="54582"/>
                  </a:lnTo>
                  <a:lnTo>
                    <a:pt x="877671" y="78117"/>
                  </a:lnTo>
                  <a:lnTo>
                    <a:pt x="920865" y="105681"/>
                  </a:lnTo>
                  <a:lnTo>
                    <a:pt x="961367" y="136766"/>
                  </a:lnTo>
                  <a:lnTo>
                    <a:pt x="998948" y="171172"/>
                  </a:lnTo>
                  <a:lnTo>
                    <a:pt x="1033379" y="208699"/>
                  </a:lnTo>
                  <a:lnTo>
                    <a:pt x="1064429" y="249147"/>
                  </a:lnTo>
                  <a:lnTo>
                    <a:pt x="1091869" y="292315"/>
                  </a:lnTo>
                  <a:lnTo>
                    <a:pt x="1115560" y="337747"/>
                  </a:lnTo>
                  <a:lnTo>
                    <a:pt x="1135100" y="384918"/>
                  </a:lnTo>
                  <a:lnTo>
                    <a:pt x="1150419" y="433528"/>
                  </a:lnTo>
                  <a:lnTo>
                    <a:pt x="1161448" y="483278"/>
                  </a:lnTo>
                  <a:lnTo>
                    <a:pt x="1168117" y="533869"/>
                  </a:lnTo>
                  <a:lnTo>
                    <a:pt x="1170355" y="585000"/>
                  </a:lnTo>
                  <a:lnTo>
                    <a:pt x="1168117" y="636126"/>
                  </a:lnTo>
                  <a:lnTo>
                    <a:pt x="1161448" y="686715"/>
                  </a:lnTo>
                  <a:lnTo>
                    <a:pt x="1150419" y="736465"/>
                  </a:lnTo>
                  <a:lnTo>
                    <a:pt x="1135100" y="785074"/>
                  </a:lnTo>
                  <a:lnTo>
                    <a:pt x="1115560" y="832244"/>
                  </a:lnTo>
                  <a:lnTo>
                    <a:pt x="1091869" y="877671"/>
                  </a:lnTo>
                  <a:lnTo>
                    <a:pt x="1064429" y="920840"/>
                  </a:lnTo>
                  <a:lnTo>
                    <a:pt x="1033379" y="961288"/>
                  </a:lnTo>
                  <a:lnTo>
                    <a:pt x="998948" y="998815"/>
                  </a:lnTo>
                  <a:lnTo>
                    <a:pt x="961367" y="1033221"/>
                  </a:lnTo>
                  <a:lnTo>
                    <a:pt x="920865" y="1064306"/>
                  </a:lnTo>
                  <a:lnTo>
                    <a:pt x="877671" y="1091869"/>
                  </a:lnTo>
                  <a:lnTo>
                    <a:pt x="832269" y="1115410"/>
                  </a:lnTo>
                  <a:lnTo>
                    <a:pt x="785156" y="1134850"/>
                  </a:lnTo>
                  <a:lnTo>
                    <a:pt x="736603" y="1150108"/>
                  </a:lnTo>
                  <a:lnTo>
                    <a:pt x="686879" y="1161106"/>
                  </a:lnTo>
                  <a:lnTo>
                    <a:pt x="636254" y="1167763"/>
                  </a:lnTo>
                  <a:lnTo>
                    <a:pt x="585000" y="1170000"/>
                  </a:lnTo>
                  <a:lnTo>
                    <a:pt x="533895" y="1167763"/>
                  </a:lnTo>
                  <a:lnTo>
                    <a:pt x="483370" y="1161106"/>
                  </a:lnTo>
                  <a:lnTo>
                    <a:pt x="433706" y="1150108"/>
                  </a:lnTo>
                  <a:lnTo>
                    <a:pt x="385182" y="1134850"/>
                  </a:lnTo>
                  <a:lnTo>
                    <a:pt x="338077" y="1115410"/>
                  </a:lnTo>
                  <a:lnTo>
                    <a:pt x="292671" y="1091869"/>
                  </a:lnTo>
                  <a:lnTo>
                    <a:pt x="249482" y="1064306"/>
                  </a:lnTo>
                  <a:lnTo>
                    <a:pt x="208981" y="1033221"/>
                  </a:lnTo>
                  <a:lnTo>
                    <a:pt x="171399" y="998815"/>
                  </a:lnTo>
                  <a:lnTo>
                    <a:pt x="136966" y="961288"/>
                  </a:lnTo>
                  <a:lnTo>
                    <a:pt x="105914" y="920840"/>
                  </a:lnTo>
                  <a:lnTo>
                    <a:pt x="78473" y="877671"/>
                  </a:lnTo>
                  <a:lnTo>
                    <a:pt x="54787" y="832244"/>
                  </a:lnTo>
                  <a:lnTo>
                    <a:pt x="35251" y="785074"/>
                  </a:lnTo>
                  <a:lnTo>
                    <a:pt x="19934" y="736465"/>
                  </a:lnTo>
                  <a:lnTo>
                    <a:pt x="8906" y="686715"/>
                  </a:lnTo>
                  <a:lnTo>
                    <a:pt x="2238" y="636126"/>
                  </a:lnTo>
                  <a:lnTo>
                    <a:pt x="0" y="585000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6492240" y="685802"/>
              <a:ext cx="2377440" cy="2286000"/>
            </a:xfrm>
            <a:custGeom>
              <a:avLst/>
              <a:gdLst/>
              <a:ahLst/>
              <a:cxnLst/>
              <a:rect l="l" t="t" r="r" b="b"/>
              <a:pathLst>
                <a:path w="2377440" h="2286000">
                  <a:moveTo>
                    <a:pt x="1188719" y="0"/>
                  </a:moveTo>
                  <a:lnTo>
                    <a:pt x="1189075" y="2286000"/>
                  </a:lnTo>
                </a:path>
                <a:path w="2377440" h="2286000">
                  <a:moveTo>
                    <a:pt x="0" y="1143000"/>
                  </a:moveTo>
                  <a:lnTo>
                    <a:pt x="2377440" y="1143355"/>
                  </a:lnTo>
                </a:path>
              </a:pathLst>
            </a:custGeom>
            <a:ln w="12599">
              <a:solidFill>
                <a:srgbClr val="05D59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584" y="1038506"/>
            <a:ext cx="29171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5400" spc="-10" noProof="1"/>
              <a:t>LaserZone</a:t>
            </a:r>
            <a:endParaRPr lang="en-GB" sz="5400" noProof="1"/>
          </a:p>
        </p:txBody>
      </p:sp>
      <p:sp>
        <p:nvSpPr>
          <p:cNvPr id="10" name="object 10"/>
          <p:cNvSpPr txBox="1"/>
          <p:nvPr/>
        </p:nvSpPr>
        <p:spPr>
          <a:xfrm>
            <a:off x="535584" y="2097978"/>
            <a:ext cx="27730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000" noProof="1">
                <a:solidFill>
                  <a:srgbClr val="A68AF9"/>
                </a:solidFill>
                <a:latin typeface="Calibri"/>
                <a:cs typeface="Calibri"/>
              </a:rPr>
              <a:t>Online</a:t>
            </a:r>
            <a:r>
              <a:rPr lang="en-GB" sz="2000" spc="-40" noProof="1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lang="en-GB" sz="2000" spc="-10" noProof="1">
                <a:solidFill>
                  <a:srgbClr val="A68AF9"/>
                </a:solidFill>
                <a:latin typeface="Calibri"/>
                <a:cs typeface="Calibri"/>
              </a:rPr>
              <a:t>Reservation</a:t>
            </a:r>
            <a:r>
              <a:rPr lang="en-GB" sz="2000" spc="-40" noProof="1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lang="en-GB" sz="2000" spc="-10" noProof="1">
                <a:solidFill>
                  <a:srgbClr val="A68AF9"/>
                </a:solidFill>
                <a:latin typeface="Calibri"/>
                <a:cs typeface="Calibri"/>
              </a:rPr>
              <a:t>System</a:t>
            </a:r>
            <a:endParaRPr lang="en-GB" sz="2000" noProof="1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1984" y="2626742"/>
            <a:ext cx="3853179" cy="49530"/>
            <a:chOff x="541984" y="2626742"/>
            <a:chExt cx="3853179" cy="49530"/>
          </a:xfrm>
        </p:grpSpPr>
        <p:sp>
          <p:nvSpPr>
            <p:cNvPr id="12" name="object 12"/>
            <p:cNvSpPr/>
            <p:nvPr/>
          </p:nvSpPr>
          <p:spPr>
            <a:xfrm>
              <a:off x="548284" y="2633042"/>
              <a:ext cx="3840479" cy="36830"/>
            </a:xfrm>
            <a:custGeom>
              <a:avLst/>
              <a:gdLst/>
              <a:ahLst/>
              <a:cxnLst/>
              <a:rect l="l" t="t" r="r" b="b"/>
              <a:pathLst>
                <a:path w="3840479" h="36830">
                  <a:moveTo>
                    <a:pt x="384011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1920240" y="36360"/>
                  </a:lnTo>
                  <a:lnTo>
                    <a:pt x="3840111" y="36360"/>
                  </a:lnTo>
                  <a:lnTo>
                    <a:pt x="384011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548284" y="2633042"/>
              <a:ext cx="3840479" cy="36830"/>
            </a:xfrm>
            <a:custGeom>
              <a:avLst/>
              <a:gdLst/>
              <a:ahLst/>
              <a:cxnLst/>
              <a:rect l="l" t="t" r="r" b="b"/>
              <a:pathLst>
                <a:path w="3840479" h="36830">
                  <a:moveTo>
                    <a:pt x="1920240" y="36360"/>
                  </a:moveTo>
                  <a:lnTo>
                    <a:pt x="0" y="36360"/>
                  </a:lnTo>
                  <a:lnTo>
                    <a:pt x="0" y="0"/>
                  </a:lnTo>
                  <a:lnTo>
                    <a:pt x="3840111" y="0"/>
                  </a:lnTo>
                  <a:lnTo>
                    <a:pt x="3840111" y="36360"/>
                  </a:lnTo>
                  <a:lnTo>
                    <a:pt x="1920240" y="3636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584" y="2850745"/>
            <a:ext cx="332930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COMP</a:t>
            </a:r>
            <a:r>
              <a:rPr lang="en-GB" sz="1300" spc="-4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202</a:t>
            </a:r>
            <a:r>
              <a:rPr lang="en-GB" sz="1300" spc="-4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–</a:t>
            </a:r>
            <a:r>
              <a:rPr lang="en-GB" sz="1300" spc="-4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spc="-10" noProof="1">
                <a:solidFill>
                  <a:srgbClr val="93A2B7"/>
                </a:solidFill>
                <a:latin typeface="Calibri"/>
                <a:cs typeface="Calibri"/>
              </a:rPr>
              <a:t>Software</a:t>
            </a:r>
            <a:r>
              <a:rPr lang="en-GB" sz="1300" spc="-40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Engineering</a:t>
            </a:r>
            <a:r>
              <a:rPr lang="en-GB" sz="1300" spc="21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|</a:t>
            </a:r>
            <a:r>
              <a:rPr lang="en-GB" sz="1300" spc="22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noProof="1">
                <a:solidFill>
                  <a:srgbClr val="93A2B7"/>
                </a:solidFill>
                <a:latin typeface="Calibri"/>
                <a:cs typeface="Calibri"/>
              </a:rPr>
              <a:t>Spring</a:t>
            </a:r>
            <a:r>
              <a:rPr lang="en-GB" sz="1300" spc="-3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spc="-20" noProof="1">
                <a:solidFill>
                  <a:srgbClr val="93A2B7"/>
                </a:solidFill>
                <a:latin typeface="Calibri"/>
                <a:cs typeface="Calibri"/>
              </a:rPr>
              <a:t>2026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576" y="3528620"/>
            <a:ext cx="800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20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00" noProof="1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GB" sz="120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00" noProof="1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GB" sz="120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00" noProof="1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GB" sz="120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00" noProof="1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GB" sz="120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00" noProof="1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8654" y="3553093"/>
            <a:ext cx="31286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Mustafa</a:t>
            </a:r>
            <a:r>
              <a:rPr lang="en-GB" sz="120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Göçmen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Full-stack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Dev</a:t>
            </a:r>
            <a:r>
              <a:rPr lang="en-GB" sz="120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Scrum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Master 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Tuna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Öcal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Developer</a:t>
            </a:r>
            <a:endParaRPr lang="en-GB" sz="1200" noProof="1">
              <a:latin typeface="Calibri"/>
              <a:cs typeface="Calibri"/>
            </a:endParaRPr>
          </a:p>
          <a:p>
            <a:pPr marL="12700" marR="412115">
              <a:lnSpc>
                <a:spcPct val="100000"/>
              </a:lnSpc>
            </a:pP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Muhammet</a:t>
            </a:r>
            <a:r>
              <a:rPr lang="en-GB" sz="12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Gümüş</a:t>
            </a:r>
            <a:r>
              <a:rPr lang="en-GB" sz="1200" spc="-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GB" sz="12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Frontend Developer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Begüm</a:t>
            </a:r>
            <a:r>
              <a:rPr lang="en-GB" sz="12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Rana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Türkoğlu</a:t>
            </a:r>
            <a:r>
              <a:rPr lang="en-GB" sz="12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lang="en-GB" sz="1200" spc="-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Designer</a:t>
            </a:r>
            <a:endParaRPr lang="en-GB" sz="1200" noProof="1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Eylül</a:t>
            </a:r>
            <a:r>
              <a:rPr lang="en-GB" sz="120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Sena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Altunsaray</a:t>
            </a:r>
            <a:r>
              <a:rPr lang="en-GB" sz="12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spc="-10" noProof="1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Designer</a:t>
            </a:r>
            <a:r>
              <a:rPr lang="en-GB" sz="12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00" noProof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GB" sz="1200" spc="-20" noProof="1">
                <a:solidFill>
                  <a:srgbClr val="FFFFFF"/>
                </a:solidFill>
                <a:latin typeface="Calibri"/>
                <a:cs typeface="Calibri"/>
              </a:rPr>
              <a:t> Docs</a:t>
            </a:r>
            <a:endParaRPr lang="en-GB" sz="1200" noProof="1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18" name="object 18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GB" noProof="1"/>
              <a:t>LaserZone</a:t>
            </a:r>
            <a:r>
              <a:rPr lang="en-GB" spc="165" noProof="1"/>
              <a:t> </a:t>
            </a:r>
            <a:r>
              <a:rPr lang="en-GB" noProof="1"/>
              <a:t>·</a:t>
            </a:r>
            <a:r>
              <a:rPr lang="en-GB" spc="175" noProof="1"/>
              <a:t> </a:t>
            </a:r>
            <a:r>
              <a:rPr lang="en-GB" noProof="1"/>
              <a:t>COMP</a:t>
            </a:r>
            <a:r>
              <a:rPr lang="en-GB" spc="-10" noProof="1"/>
              <a:t> </a:t>
            </a:r>
            <a:r>
              <a:rPr lang="en-GB" noProof="1"/>
              <a:t>202</a:t>
            </a:r>
            <a:r>
              <a:rPr lang="en-GB" spc="-20" noProof="1"/>
              <a:t> </a:t>
            </a:r>
            <a:r>
              <a:rPr lang="en-GB" spc="-10" noProof="1"/>
              <a:t>Software</a:t>
            </a:r>
            <a:r>
              <a:rPr lang="en-GB" spc="-20" noProof="1"/>
              <a:t> </a:t>
            </a:r>
            <a:r>
              <a:rPr lang="en-GB" noProof="1"/>
              <a:t>Engineering</a:t>
            </a:r>
            <a:r>
              <a:rPr lang="en-GB" spc="180" noProof="1"/>
              <a:t> </a:t>
            </a:r>
            <a:r>
              <a:rPr lang="en-GB" noProof="1"/>
              <a:t>·</a:t>
            </a:r>
            <a:r>
              <a:rPr lang="en-GB" spc="165" noProof="1"/>
              <a:t> </a:t>
            </a:r>
            <a:r>
              <a:rPr lang="en-GB" noProof="1"/>
              <a:t>Spring</a:t>
            </a:r>
            <a:r>
              <a:rPr lang="en-GB" spc="-15" noProof="1"/>
              <a:t> </a:t>
            </a:r>
            <a:r>
              <a:rPr lang="en-GB" spc="-20" noProof="1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1"/>
              <a:t>Outline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6400" y="855841"/>
            <a:ext cx="4279900" cy="1463675"/>
            <a:chOff x="356400" y="941389"/>
            <a:chExt cx="4279900" cy="146367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400" y="941389"/>
              <a:ext cx="4279684" cy="14630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6844" y="100584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4114431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2057400" y="1298155"/>
                  </a:lnTo>
                  <a:lnTo>
                    <a:pt x="4114431" y="1298155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456844" y="100584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2057400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298155"/>
                  </a:lnTo>
                  <a:lnTo>
                    <a:pt x="2057400" y="129815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456844" y="100584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456844" y="100584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6860" y="1175666"/>
            <a:ext cx="403860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lang="en-GB" sz="2400" b="1" spc="-25" noProof="1">
                <a:solidFill>
                  <a:srgbClr val="7B39EC"/>
                </a:solidFill>
                <a:latin typeface="Calibri"/>
                <a:cs typeface="Calibri"/>
              </a:rPr>
              <a:t>01</a:t>
            </a:r>
            <a:endParaRPr lang="en-GB" sz="2400" noProof="1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860"/>
              </a:spcBef>
            </a:pP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Purpose</a:t>
            </a:r>
            <a:r>
              <a:rPr lang="en-GB" sz="1400" b="1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lang="en-GB" sz="1400" b="1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 Project</a:t>
            </a:r>
            <a:endParaRPr lang="en-GB" sz="1400" noProof="1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91024" y="838710"/>
            <a:ext cx="4279900" cy="1463675"/>
            <a:chOff x="4791240" y="941389"/>
            <a:chExt cx="4279900" cy="146367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240" y="941389"/>
              <a:ext cx="4279684" cy="14630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91684" y="100584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4114431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2057400" y="1298155"/>
                  </a:lnTo>
                  <a:lnTo>
                    <a:pt x="4114431" y="1298155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4891684" y="100584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2057400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298155"/>
                  </a:lnTo>
                  <a:lnTo>
                    <a:pt x="2057400" y="129815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1684" y="100584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4891684" y="100584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61700" y="1175666"/>
            <a:ext cx="403860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lang="en-GB" sz="2400" b="1" spc="-25" noProof="1">
                <a:solidFill>
                  <a:srgbClr val="7B39EC"/>
                </a:solidFill>
                <a:latin typeface="Calibri"/>
                <a:cs typeface="Calibri"/>
              </a:rPr>
              <a:t>02</a:t>
            </a:r>
            <a:endParaRPr lang="en-GB" sz="2400" noProof="1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860"/>
              </a:spcBef>
            </a:pP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lang="en-GB" sz="1400" b="1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400" b="1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Technologies</a:t>
            </a:r>
            <a:endParaRPr lang="en-GB" sz="1400" noProof="1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6400" y="2404429"/>
            <a:ext cx="4279900" cy="1463675"/>
            <a:chOff x="356400" y="2404429"/>
            <a:chExt cx="4279900" cy="146367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400" y="2404429"/>
              <a:ext cx="4279684" cy="14630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6844" y="246888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4114431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2057400" y="1298155"/>
                  </a:lnTo>
                  <a:lnTo>
                    <a:pt x="4114431" y="1298155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844" y="246888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2057400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298155"/>
                  </a:lnTo>
                  <a:lnTo>
                    <a:pt x="2057400" y="129815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6844" y="246888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2" name="object 22"/>
            <p:cNvSpPr/>
            <p:nvPr/>
          </p:nvSpPr>
          <p:spPr>
            <a:xfrm>
              <a:off x="456844" y="246888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4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6860" y="2638706"/>
            <a:ext cx="403860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lang="en-GB" sz="2400" b="1" spc="-25" noProof="1">
                <a:solidFill>
                  <a:srgbClr val="7B39EC"/>
                </a:solidFill>
                <a:latin typeface="Calibri"/>
                <a:cs typeface="Calibri"/>
              </a:rPr>
              <a:t>03</a:t>
            </a:r>
            <a:endParaRPr lang="en-GB" sz="2400" noProof="1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860"/>
              </a:spcBef>
            </a:pP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endParaRPr lang="en-GB" sz="1400" noProof="1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91240" y="2404429"/>
            <a:ext cx="4279900" cy="1463675"/>
            <a:chOff x="4791240" y="2404429"/>
            <a:chExt cx="4279900" cy="1463675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91240" y="2404429"/>
              <a:ext cx="4279684" cy="14630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891684" y="246888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4114431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2057400" y="1298155"/>
                  </a:lnTo>
                  <a:lnTo>
                    <a:pt x="4114431" y="1298155"/>
                  </a:lnTo>
                  <a:lnTo>
                    <a:pt x="41144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7" name="object 27"/>
            <p:cNvSpPr/>
            <p:nvPr/>
          </p:nvSpPr>
          <p:spPr>
            <a:xfrm>
              <a:off x="4891684" y="2468882"/>
              <a:ext cx="4114800" cy="1298575"/>
            </a:xfrm>
            <a:custGeom>
              <a:avLst/>
              <a:gdLst/>
              <a:ahLst/>
              <a:cxnLst/>
              <a:rect l="l" t="t" r="r" b="b"/>
              <a:pathLst>
                <a:path w="4114800" h="1298575">
                  <a:moveTo>
                    <a:pt x="2057400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4114431" y="0"/>
                  </a:lnTo>
                  <a:lnTo>
                    <a:pt x="4114431" y="1298155"/>
                  </a:lnTo>
                  <a:lnTo>
                    <a:pt x="2057400" y="129815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8" name="object 28"/>
            <p:cNvSpPr/>
            <p:nvPr/>
          </p:nvSpPr>
          <p:spPr>
            <a:xfrm>
              <a:off x="4891684" y="246888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63715" y="0"/>
                  </a:moveTo>
                  <a:lnTo>
                    <a:pt x="0" y="0"/>
                  </a:lnTo>
                  <a:lnTo>
                    <a:pt x="0" y="1298155"/>
                  </a:lnTo>
                  <a:lnTo>
                    <a:pt x="32029" y="1298155"/>
                  </a:lnTo>
                  <a:lnTo>
                    <a:pt x="63715" y="1298155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9" name="object 29"/>
            <p:cNvSpPr/>
            <p:nvPr/>
          </p:nvSpPr>
          <p:spPr>
            <a:xfrm>
              <a:off x="4891684" y="2468882"/>
              <a:ext cx="64135" cy="1298575"/>
            </a:xfrm>
            <a:custGeom>
              <a:avLst/>
              <a:gdLst/>
              <a:ahLst/>
              <a:cxnLst/>
              <a:rect l="l" t="t" r="r" b="b"/>
              <a:pathLst>
                <a:path w="64135" h="1298575">
                  <a:moveTo>
                    <a:pt x="32029" y="1298155"/>
                  </a:moveTo>
                  <a:lnTo>
                    <a:pt x="0" y="1298155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298155"/>
                  </a:lnTo>
                  <a:lnTo>
                    <a:pt x="32029" y="129815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61700" y="2638706"/>
            <a:ext cx="403860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lang="en-GB" sz="2400" b="1" spc="-25" noProof="1">
                <a:solidFill>
                  <a:srgbClr val="7B39EC"/>
                </a:solidFill>
                <a:latin typeface="Calibri"/>
                <a:cs typeface="Calibri"/>
              </a:rPr>
              <a:t>04</a:t>
            </a:r>
            <a:endParaRPr lang="en-GB" sz="2400" noProof="1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860"/>
              </a:spcBef>
            </a:pP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Difficulties</a:t>
            </a:r>
            <a:r>
              <a:rPr lang="en-GB" sz="1400" b="1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400" b="1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Issues</a:t>
            </a:r>
            <a:endParaRPr lang="en-GB" sz="1400" noProof="1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56400" y="3867469"/>
            <a:ext cx="4279900" cy="1282700"/>
            <a:chOff x="356400" y="3867469"/>
            <a:chExt cx="4279900" cy="128270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400" y="3867469"/>
              <a:ext cx="4279684" cy="127585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20560" y="3931921"/>
              <a:ext cx="4051300" cy="1211580"/>
            </a:xfrm>
            <a:custGeom>
              <a:avLst/>
              <a:gdLst/>
              <a:ahLst/>
              <a:cxnLst/>
              <a:rect l="l" t="t" r="r" b="b"/>
              <a:pathLst>
                <a:path w="4051300" h="1211579">
                  <a:moveTo>
                    <a:pt x="0" y="1211402"/>
                  </a:moveTo>
                  <a:lnTo>
                    <a:pt x="4050715" y="1211402"/>
                  </a:lnTo>
                  <a:lnTo>
                    <a:pt x="4050715" y="0"/>
                  </a:lnTo>
                  <a:lnTo>
                    <a:pt x="0" y="0"/>
                  </a:lnTo>
                  <a:lnTo>
                    <a:pt x="0" y="1211402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4" name="object 34"/>
            <p:cNvSpPr/>
            <p:nvPr/>
          </p:nvSpPr>
          <p:spPr>
            <a:xfrm>
              <a:off x="456844" y="3931921"/>
              <a:ext cx="4114800" cy="1211580"/>
            </a:xfrm>
            <a:custGeom>
              <a:avLst/>
              <a:gdLst/>
              <a:ahLst/>
              <a:cxnLst/>
              <a:rect l="l" t="t" r="r" b="b"/>
              <a:pathLst>
                <a:path w="4114800" h="1211579">
                  <a:moveTo>
                    <a:pt x="0" y="1211402"/>
                  </a:moveTo>
                  <a:lnTo>
                    <a:pt x="0" y="0"/>
                  </a:lnTo>
                  <a:lnTo>
                    <a:pt x="4114431" y="0"/>
                  </a:lnTo>
                  <a:lnTo>
                    <a:pt x="4114431" y="1211402"/>
                  </a:lnTo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456844" y="3931921"/>
              <a:ext cx="64135" cy="1211580"/>
            </a:xfrm>
            <a:custGeom>
              <a:avLst/>
              <a:gdLst/>
              <a:ahLst/>
              <a:cxnLst/>
              <a:rect l="l" t="t" r="r" b="b"/>
              <a:pathLst>
                <a:path w="64134" h="1211579">
                  <a:moveTo>
                    <a:pt x="63715" y="0"/>
                  </a:moveTo>
                  <a:lnTo>
                    <a:pt x="0" y="0"/>
                  </a:lnTo>
                  <a:lnTo>
                    <a:pt x="0" y="1211402"/>
                  </a:lnTo>
                  <a:lnTo>
                    <a:pt x="63715" y="1211402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6" name="object 36"/>
            <p:cNvSpPr/>
            <p:nvPr/>
          </p:nvSpPr>
          <p:spPr>
            <a:xfrm>
              <a:off x="456844" y="3931921"/>
              <a:ext cx="64135" cy="1211580"/>
            </a:xfrm>
            <a:custGeom>
              <a:avLst/>
              <a:gdLst/>
              <a:ahLst/>
              <a:cxnLst/>
              <a:rect l="l" t="t" r="r" b="b"/>
              <a:pathLst>
                <a:path w="64134" h="1211579">
                  <a:moveTo>
                    <a:pt x="0" y="1211402"/>
                  </a:moveTo>
                  <a:lnTo>
                    <a:pt x="0" y="0"/>
                  </a:lnTo>
                  <a:lnTo>
                    <a:pt x="63715" y="0"/>
                  </a:lnTo>
                  <a:lnTo>
                    <a:pt x="63715" y="1211402"/>
                  </a:lnTo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26860" y="4101746"/>
            <a:ext cx="4038600" cy="841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lang="en-GB" sz="2400" b="1" spc="-25" noProof="1">
                <a:solidFill>
                  <a:srgbClr val="7B39EC"/>
                </a:solidFill>
                <a:latin typeface="Calibri"/>
                <a:cs typeface="Calibri"/>
              </a:rPr>
              <a:t>05</a:t>
            </a:r>
            <a:endParaRPr lang="en-GB" sz="2400" noProof="1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860"/>
              </a:spcBef>
            </a:pP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lang="en-GB" sz="1400" b="1" spc="-5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noProof="1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lang="en-GB" sz="1400" b="1" spc="-5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400" b="1" spc="-10" noProof="1">
                <a:solidFill>
                  <a:srgbClr val="FFFFFF"/>
                </a:solidFill>
                <a:latin typeface="Calibri"/>
                <a:cs typeface="Calibri"/>
              </a:rPr>
              <a:t>Learned</a:t>
            </a:r>
            <a:endParaRPr lang="en-GB" sz="1400" noProof="1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xfrm>
            <a:off x="3161779" y="4934858"/>
            <a:ext cx="2820670" cy="14555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endParaRPr lang="en-GB" spc="-2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tr-TR" noProof="1"/>
              <a:t>Purpose</a:t>
            </a:r>
            <a:r>
              <a:rPr lang="tr-TR" spc="-30" noProof="1"/>
              <a:t> </a:t>
            </a:r>
            <a:r>
              <a:rPr lang="tr-TR" noProof="1"/>
              <a:t>of</a:t>
            </a:r>
            <a:r>
              <a:rPr lang="tr-TR" spc="-30" noProof="1"/>
              <a:t> </a:t>
            </a:r>
            <a:r>
              <a:rPr lang="tr-TR" noProof="1"/>
              <a:t>the</a:t>
            </a:r>
            <a:r>
              <a:rPr lang="tr-TR" spc="-30" noProof="1"/>
              <a:t> </a:t>
            </a:r>
            <a:r>
              <a:rPr lang="tr-TR" spc="-10" noProof="1"/>
              <a:t>Project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960" y="895669"/>
            <a:ext cx="8577580" cy="1582420"/>
            <a:chOff x="264960" y="895669"/>
            <a:chExt cx="8577580" cy="15824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60" y="895669"/>
              <a:ext cx="8577364" cy="15818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404" y="960122"/>
              <a:ext cx="8412480" cy="1417320"/>
            </a:xfrm>
            <a:custGeom>
              <a:avLst/>
              <a:gdLst/>
              <a:ahLst/>
              <a:cxnLst/>
              <a:rect l="l" t="t" r="r" b="b"/>
              <a:pathLst>
                <a:path w="8412480" h="1417320">
                  <a:moveTo>
                    <a:pt x="8412111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4206240" y="1416964"/>
                  </a:lnTo>
                  <a:lnTo>
                    <a:pt x="8412111" y="1416964"/>
                  </a:lnTo>
                  <a:lnTo>
                    <a:pt x="841211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65404" y="960122"/>
              <a:ext cx="8412480" cy="1417320"/>
            </a:xfrm>
            <a:custGeom>
              <a:avLst/>
              <a:gdLst/>
              <a:ahLst/>
              <a:cxnLst/>
              <a:rect l="l" t="t" r="r" b="b"/>
              <a:pathLst>
                <a:path w="8412480" h="1417320">
                  <a:moveTo>
                    <a:pt x="4206240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8412111" y="0"/>
                  </a:lnTo>
                  <a:lnTo>
                    <a:pt x="8412111" y="1416964"/>
                  </a:lnTo>
                  <a:lnTo>
                    <a:pt x="4206240" y="141696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365404" y="960122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63715" y="0"/>
                  </a:moveTo>
                  <a:lnTo>
                    <a:pt x="0" y="0"/>
                  </a:lnTo>
                  <a:lnTo>
                    <a:pt x="0" y="1416964"/>
                  </a:lnTo>
                  <a:lnTo>
                    <a:pt x="32029" y="1416964"/>
                  </a:lnTo>
                  <a:lnTo>
                    <a:pt x="63715" y="1416964"/>
                  </a:lnTo>
                  <a:lnTo>
                    <a:pt x="63715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960122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4" h="1417320">
                  <a:moveTo>
                    <a:pt x="32029" y="1416964"/>
                  </a:moveTo>
                  <a:lnTo>
                    <a:pt x="0" y="1416964"/>
                  </a:lnTo>
                  <a:lnTo>
                    <a:pt x="0" y="0"/>
                  </a:lnTo>
                  <a:lnTo>
                    <a:pt x="63715" y="0"/>
                  </a:lnTo>
                  <a:lnTo>
                    <a:pt x="63715" y="1416964"/>
                  </a:lnTo>
                  <a:lnTo>
                    <a:pt x="32029" y="1416964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3996" y="1102946"/>
            <a:ext cx="6362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tr-TR" sz="1500" spc="-10" noProof="1">
                <a:solidFill>
                  <a:srgbClr val="FFFFFF"/>
                </a:solidFill>
                <a:latin typeface="Calibri"/>
                <a:cs typeface="Calibri"/>
              </a:rPr>
              <a:t>LaserZone</a:t>
            </a:r>
            <a:r>
              <a:rPr lang="tr-TR" sz="150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lang="tr-TR" sz="15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tr-TR" sz="150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b="1" spc="-10" noProof="1">
                <a:solidFill>
                  <a:srgbClr val="05D59F"/>
                </a:solidFill>
                <a:latin typeface="Calibri"/>
                <a:cs typeface="Calibri"/>
              </a:rPr>
              <a:t>web-</a:t>
            </a:r>
            <a:r>
              <a:rPr lang="tr-TR" sz="1500" b="1" noProof="1">
                <a:solidFill>
                  <a:srgbClr val="05D59F"/>
                </a:solidFill>
                <a:latin typeface="Calibri"/>
                <a:cs typeface="Calibri"/>
              </a:rPr>
              <a:t>based</a:t>
            </a:r>
            <a:r>
              <a:rPr lang="tr-TR" sz="1500" b="1" spc="-25" noProof="1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lang="tr-TR" sz="1500" b="1" spc="-10" noProof="1">
                <a:solidFill>
                  <a:srgbClr val="05D59F"/>
                </a:solidFill>
                <a:latin typeface="Calibri"/>
                <a:cs typeface="Calibri"/>
              </a:rPr>
              <a:t>reservation</a:t>
            </a:r>
            <a:r>
              <a:rPr lang="tr-TR" sz="1500" b="1" spc="-15" noProof="1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lang="tr-TR" sz="1500" b="1" spc="-10" noProof="1">
                <a:solidFill>
                  <a:srgbClr val="05D59F"/>
                </a:solidFill>
                <a:latin typeface="Calibri"/>
                <a:cs typeface="Calibri"/>
              </a:rPr>
              <a:t>system</a:t>
            </a:r>
            <a:r>
              <a:rPr lang="tr-TR" sz="1500" b="1" spc="-5" noProof="1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lang="tr-TR" sz="150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tr-TR" sz="15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laser</a:t>
            </a:r>
            <a:r>
              <a:rPr lang="tr-TR" sz="150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noProof="1">
                <a:solidFill>
                  <a:srgbClr val="FFFFFF"/>
                </a:solidFill>
                <a:latin typeface="Calibri"/>
                <a:cs typeface="Calibri"/>
              </a:rPr>
              <a:t>tag</a:t>
            </a:r>
            <a:r>
              <a:rPr lang="tr-TR" sz="15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spc="-10" noProof="1">
                <a:solidFill>
                  <a:srgbClr val="FFFFFF"/>
                </a:solidFill>
                <a:latin typeface="Calibri"/>
                <a:cs typeface="Calibri"/>
              </a:rPr>
              <a:t>entertainment</a:t>
            </a:r>
            <a:r>
              <a:rPr lang="tr-TR" sz="150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500" spc="-10" noProof="1">
                <a:solidFill>
                  <a:srgbClr val="FFFFFF"/>
                </a:solidFill>
                <a:latin typeface="Calibri"/>
                <a:cs typeface="Calibri"/>
              </a:rPr>
              <a:t>venue.</a:t>
            </a:r>
            <a:endParaRPr lang="tr-TR" sz="1500" noProof="1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996" y="1604786"/>
            <a:ext cx="7429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20"/>
              </a:lnSpc>
              <a:spcBef>
                <a:spcPts val="100"/>
              </a:spcBef>
            </a:pPr>
            <a:r>
              <a:rPr lang="tr-TR" sz="13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3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tr-TR" sz="13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350" noProof="1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074" y="1633222"/>
            <a:ext cx="52647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620"/>
              </a:lnSpc>
              <a:spcBef>
                <a:spcPts val="100"/>
              </a:spcBef>
            </a:pP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lang="tr-TR" sz="13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lang="tr-TR" sz="13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25" noProof="1">
                <a:solidFill>
                  <a:srgbClr val="FFFFFF"/>
                </a:solidFill>
                <a:latin typeface="Calibri"/>
                <a:cs typeface="Calibri"/>
              </a:rPr>
              <a:t>register,</a:t>
            </a:r>
            <a:r>
              <a:rPr lang="tr-TR" sz="13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browse</a:t>
            </a:r>
            <a:r>
              <a:rPr lang="tr-TR" sz="13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lang="tr-TR" sz="13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slots,</a:t>
            </a:r>
            <a:r>
              <a:rPr lang="tr-TR" sz="13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tr-TR" sz="13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book</a:t>
            </a:r>
            <a:r>
              <a:rPr lang="tr-TR" sz="13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sessions</a:t>
            </a:r>
            <a:r>
              <a:rPr lang="tr-TR" sz="13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endParaRPr lang="tr-TR" sz="1350" noProof="1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lang="tr-TR" sz="13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payments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handled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 on-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site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lang="tr-TR" sz="13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noProof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 platform</a:t>
            </a:r>
            <a:r>
              <a:rPr lang="tr-TR" sz="13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10" noProof="1">
                <a:solidFill>
                  <a:srgbClr val="FFFFFF"/>
                </a:solidFill>
                <a:latin typeface="Calibri"/>
                <a:cs typeface="Calibri"/>
              </a:rPr>
              <a:t>manages</a:t>
            </a:r>
            <a:r>
              <a:rPr lang="tr-TR" sz="1350" spc="-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reservations</a:t>
            </a:r>
            <a:r>
              <a:rPr lang="tr-TR" sz="13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350" spc="-20" noProof="1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lang="tr-TR" sz="1350" noProof="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5315" y="2513865"/>
            <a:ext cx="2862580" cy="2268220"/>
            <a:chOff x="265315" y="2513865"/>
            <a:chExt cx="2862580" cy="226822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315" y="2513865"/>
              <a:ext cx="2862364" cy="226766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5760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80" h="2103120">
                  <a:moveTo>
                    <a:pt x="2697124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1348562" y="2102764"/>
                  </a:lnTo>
                  <a:lnTo>
                    <a:pt x="2697124" y="210276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365760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80" h="2103120">
                  <a:moveTo>
                    <a:pt x="134856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2102764"/>
                  </a:lnTo>
                  <a:lnTo>
                    <a:pt x="1348562" y="210276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365760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80" h="54610">
                  <a:moveTo>
                    <a:pt x="269712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48562" y="54368"/>
                  </a:lnTo>
                  <a:lnTo>
                    <a:pt x="2697124" y="54368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60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80" h="54610">
                  <a:moveTo>
                    <a:pt x="134856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54368"/>
                  </a:lnTo>
                  <a:lnTo>
                    <a:pt x="1348562" y="54368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2564" y="2775815"/>
            <a:ext cx="175006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lang="tr-TR" sz="1550" spc="990" noProof="1">
                <a:solidFill>
                  <a:srgbClr val="05D59F"/>
                </a:solidFill>
                <a:latin typeface="Cambria"/>
                <a:cs typeface="Cambria"/>
              </a:rPr>
              <a:t>🎯</a:t>
            </a:r>
            <a:r>
              <a:rPr lang="tr-TR" sz="1550" spc="245" noProof="1">
                <a:solidFill>
                  <a:srgbClr val="05D59F"/>
                </a:solidFill>
                <a:latin typeface="Cambria"/>
                <a:cs typeface="Cambria"/>
              </a:rPr>
              <a:t> </a:t>
            </a:r>
            <a:r>
              <a:rPr lang="tr-TR" sz="1350" b="1" spc="-10" noProof="1">
                <a:solidFill>
                  <a:srgbClr val="05D59F"/>
                </a:solidFill>
                <a:latin typeface="Calibri"/>
                <a:cs typeface="Calibri"/>
              </a:rPr>
              <a:t>Streamline</a:t>
            </a:r>
            <a:r>
              <a:rPr lang="tr-TR" sz="1350" b="1" spc="-15" noProof="1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lang="tr-TR" sz="1350" b="1" spc="-105" noProof="1">
                <a:solidFill>
                  <a:srgbClr val="05D59F"/>
                </a:solidFill>
                <a:latin typeface="Calibri"/>
                <a:cs typeface="Calibri"/>
              </a:rPr>
              <a:t>Bookings</a:t>
            </a:r>
            <a:endParaRPr lang="tr-TR" sz="1350" noProof="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2556" y="3556700"/>
            <a:ext cx="6921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tr-TR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5634" y="3583345"/>
            <a:ext cx="1767839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7970">
              <a:lnSpc>
                <a:spcPct val="100000"/>
              </a:lnSpc>
              <a:spcBef>
                <a:spcPts val="100"/>
              </a:spcBef>
            </a:pP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lang="tr-TR" sz="12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phone/manual bookings</a:t>
            </a:r>
            <a:endParaRPr lang="tr-TR" sz="1250" noProof="1">
              <a:latin typeface="Calibri"/>
              <a:cs typeface="Calibri"/>
            </a:endParaRPr>
          </a:p>
          <a:p>
            <a:pPr>
              <a:lnSpc>
                <a:spcPts val="1500"/>
              </a:lnSpc>
            </a:pPr>
            <a:r>
              <a:rPr lang="tr-TR" sz="1250" spc="-25" noProof="1">
                <a:solidFill>
                  <a:srgbClr val="FFFFFF"/>
                </a:solidFill>
                <a:latin typeface="Calibri"/>
                <a:cs typeface="Calibri"/>
              </a:rPr>
              <a:t>Self-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lang="tr-TR" sz="12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lang="tr-TR" sz="12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endParaRPr lang="tr-TR" sz="1250" noProof="1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99955" y="2513865"/>
            <a:ext cx="2862580" cy="2268220"/>
            <a:chOff x="3099955" y="2513865"/>
            <a:chExt cx="2862580" cy="226822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9955" y="2513865"/>
              <a:ext cx="2862364" cy="226766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200400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97124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1348562" y="2102764"/>
                  </a:lnTo>
                  <a:lnTo>
                    <a:pt x="2697124" y="210276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400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134856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2102764"/>
                  </a:lnTo>
                  <a:lnTo>
                    <a:pt x="1348562" y="210276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0400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79" h="54610">
                  <a:moveTo>
                    <a:pt x="269712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48562" y="54368"/>
                  </a:lnTo>
                  <a:lnTo>
                    <a:pt x="2697124" y="54368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5FA4F9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0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79" h="54610">
                  <a:moveTo>
                    <a:pt x="134856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54368"/>
                  </a:lnTo>
                  <a:lnTo>
                    <a:pt x="1348562" y="54368"/>
                  </a:lnTo>
                  <a:close/>
                </a:path>
              </a:pathLst>
            </a:custGeom>
            <a:ln w="12599">
              <a:solidFill>
                <a:srgbClr val="5FA4F9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37204" y="2775815"/>
            <a:ext cx="1751330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lang="tr-TR" sz="1550" spc="990" noProof="1">
                <a:solidFill>
                  <a:srgbClr val="5FA4F9"/>
                </a:solidFill>
                <a:latin typeface="Cambria"/>
                <a:cs typeface="Cambria"/>
              </a:rPr>
              <a:t>👥</a:t>
            </a:r>
            <a:r>
              <a:rPr lang="tr-TR" sz="1550" spc="200" noProof="1">
                <a:solidFill>
                  <a:srgbClr val="5FA4F9"/>
                </a:solidFill>
                <a:latin typeface="Cambria"/>
                <a:cs typeface="Cambria"/>
              </a:rPr>
              <a:t> </a:t>
            </a:r>
            <a:r>
              <a:rPr lang="tr-TR" sz="1350" b="1" noProof="1">
                <a:solidFill>
                  <a:srgbClr val="5FA4F9"/>
                </a:solidFill>
                <a:latin typeface="Calibri"/>
                <a:cs typeface="Calibri"/>
              </a:rPr>
              <a:t>Group</a:t>
            </a:r>
            <a:r>
              <a:rPr lang="tr-TR" sz="1350" b="1" spc="-30" noProof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lang="tr-TR" sz="1350" b="1" spc="-80" noProof="1">
                <a:solidFill>
                  <a:srgbClr val="5FA4F9"/>
                </a:solidFill>
                <a:latin typeface="Calibri"/>
                <a:cs typeface="Calibri"/>
              </a:rPr>
              <a:t>Matchmaking</a:t>
            </a:r>
            <a:endParaRPr lang="tr-TR" sz="1350" noProof="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27196" y="3556700"/>
            <a:ext cx="69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70274" y="3583345"/>
            <a:ext cx="191643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Leader</a:t>
            </a:r>
            <a:r>
              <a:rPr lang="tr-TR" sz="12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opens</a:t>
            </a:r>
            <a:r>
              <a:rPr lang="tr-TR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tr-TR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lang="tr-TR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session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lang="tr-TR" sz="12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lang="tr-TR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lang="tr-TR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20" noProof="1">
                <a:solidFill>
                  <a:srgbClr val="FFFFFF"/>
                </a:solidFill>
                <a:latin typeface="Calibri"/>
                <a:cs typeface="Calibri"/>
              </a:rPr>
              <a:t>join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requests</a:t>
            </a:r>
            <a:endParaRPr lang="tr-TR" sz="1250" noProof="1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934595" y="2513865"/>
            <a:ext cx="2862580" cy="2268220"/>
            <a:chOff x="5934595" y="2513865"/>
            <a:chExt cx="2862580" cy="226822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4595" y="2513865"/>
              <a:ext cx="2862364" cy="226766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035039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2697124" y="0"/>
                  </a:moveTo>
                  <a:lnTo>
                    <a:pt x="0" y="0"/>
                  </a:lnTo>
                  <a:lnTo>
                    <a:pt x="0" y="2102764"/>
                  </a:lnTo>
                  <a:lnTo>
                    <a:pt x="1348562" y="2102764"/>
                  </a:lnTo>
                  <a:lnTo>
                    <a:pt x="2697124" y="2102764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33" name="object 33"/>
            <p:cNvSpPr/>
            <p:nvPr/>
          </p:nvSpPr>
          <p:spPr>
            <a:xfrm>
              <a:off x="6035039" y="2578317"/>
              <a:ext cx="2697480" cy="2103120"/>
            </a:xfrm>
            <a:custGeom>
              <a:avLst/>
              <a:gdLst/>
              <a:ahLst/>
              <a:cxnLst/>
              <a:rect l="l" t="t" r="r" b="b"/>
              <a:pathLst>
                <a:path w="2697479" h="2103120">
                  <a:moveTo>
                    <a:pt x="1348562" y="2102764"/>
                  </a:moveTo>
                  <a:lnTo>
                    <a:pt x="0" y="2102764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2102764"/>
                  </a:lnTo>
                  <a:lnTo>
                    <a:pt x="1348562" y="210276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34" name="object 34"/>
            <p:cNvSpPr/>
            <p:nvPr/>
          </p:nvSpPr>
          <p:spPr>
            <a:xfrm>
              <a:off x="6035039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79" h="54610">
                  <a:moveTo>
                    <a:pt x="269712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48562" y="54368"/>
                  </a:lnTo>
                  <a:lnTo>
                    <a:pt x="2697124" y="54368"/>
                  </a:lnTo>
                  <a:lnTo>
                    <a:pt x="269712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6035039" y="2578317"/>
              <a:ext cx="2697480" cy="54610"/>
            </a:xfrm>
            <a:custGeom>
              <a:avLst/>
              <a:gdLst/>
              <a:ahLst/>
              <a:cxnLst/>
              <a:rect l="l" t="t" r="r" b="b"/>
              <a:pathLst>
                <a:path w="2697479" h="54610">
                  <a:moveTo>
                    <a:pt x="134856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697124" y="0"/>
                  </a:lnTo>
                  <a:lnTo>
                    <a:pt x="2697124" y="54368"/>
                  </a:lnTo>
                  <a:lnTo>
                    <a:pt x="1348562" y="54368"/>
                  </a:lnTo>
                  <a:close/>
                </a:path>
              </a:pathLst>
            </a:custGeom>
            <a:ln w="12599">
              <a:solidFill>
                <a:srgbClr val="FABE23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171844" y="2775815"/>
            <a:ext cx="132905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lang="tr-TR" sz="1550" spc="-545" noProof="1">
                <a:solidFill>
                  <a:srgbClr val="FABE23"/>
                </a:solidFill>
                <a:latin typeface="Cambria"/>
                <a:cs typeface="Cambria"/>
              </a:rPr>
              <a:t>🛡️</a:t>
            </a:r>
            <a:r>
              <a:rPr lang="tr-TR" sz="1550" spc="240" noProof="1">
                <a:solidFill>
                  <a:srgbClr val="FABE23"/>
                </a:solidFill>
                <a:latin typeface="Cambria"/>
                <a:cs typeface="Cambria"/>
              </a:rPr>
              <a:t> </a:t>
            </a:r>
            <a:r>
              <a:rPr lang="tr-TR" sz="1350" b="1" noProof="1">
                <a:solidFill>
                  <a:srgbClr val="FABE23"/>
                </a:solidFill>
                <a:latin typeface="Calibri"/>
                <a:cs typeface="Calibri"/>
              </a:rPr>
              <a:t>Admin</a:t>
            </a:r>
            <a:r>
              <a:rPr lang="tr-TR" sz="1350" b="1" spc="-60" noProof="1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lang="tr-TR" sz="1350" b="1" spc="-45" noProof="1">
                <a:solidFill>
                  <a:srgbClr val="FABE23"/>
                </a:solidFill>
                <a:latin typeface="Calibri"/>
                <a:cs typeface="Calibri"/>
              </a:rPr>
              <a:t>Control</a:t>
            </a:r>
            <a:endParaRPr lang="tr-TR" sz="1350" noProof="1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1836" y="3461298"/>
            <a:ext cx="6921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tr-TR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tr-TR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tr-TR" sz="1250" noProof="1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04914" y="3487942"/>
            <a:ext cx="156273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lang="tr-TR" sz="12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slots</a:t>
            </a:r>
            <a:r>
              <a:rPr lang="tr-TR" sz="12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tr-TR" sz="12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working hours</a:t>
            </a:r>
            <a:endParaRPr lang="tr-TR" sz="1250" noProof="1">
              <a:latin typeface="Calibri"/>
              <a:cs typeface="Calibri"/>
            </a:endParaRPr>
          </a:p>
          <a:p>
            <a:pPr marR="395605">
              <a:lnSpc>
                <a:spcPts val="1500"/>
              </a:lnSpc>
              <a:spcBef>
                <a:spcPts val="50"/>
              </a:spcBef>
            </a:pP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Approve</a:t>
            </a:r>
            <a:r>
              <a:rPr lang="tr-TR" sz="12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noProof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lang="tr-TR" sz="12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tr-TR" sz="1250" spc="-10" noProof="1">
                <a:solidFill>
                  <a:srgbClr val="FFFFFF"/>
                </a:solidFill>
                <a:latin typeface="Calibri"/>
                <a:cs typeface="Calibri"/>
              </a:rPr>
              <a:t>cancel reservations</a:t>
            </a:r>
            <a:endParaRPr lang="tr-TR" sz="1250" noProof="1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40" name="object 40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  <p:sp>
          <p:nvSpPr>
            <p:cNvPr id="41" name="object 41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tr-TR" noProof="1"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tr-TR" noProof="1"/>
              <a:t>LaserZone</a:t>
            </a:r>
            <a:r>
              <a:rPr lang="tr-TR" spc="165" noProof="1"/>
              <a:t> </a:t>
            </a:r>
            <a:r>
              <a:rPr lang="tr-TR" noProof="1"/>
              <a:t>·</a:t>
            </a:r>
            <a:r>
              <a:rPr lang="tr-TR" spc="175" noProof="1"/>
              <a:t> </a:t>
            </a:r>
            <a:r>
              <a:rPr lang="tr-TR" noProof="1"/>
              <a:t>COMP</a:t>
            </a:r>
            <a:r>
              <a:rPr lang="tr-TR" spc="-10" noProof="1"/>
              <a:t> </a:t>
            </a:r>
            <a:r>
              <a:rPr lang="tr-TR" noProof="1"/>
              <a:t>202</a:t>
            </a:r>
            <a:r>
              <a:rPr lang="tr-TR" spc="-20" noProof="1"/>
              <a:t> </a:t>
            </a:r>
            <a:r>
              <a:rPr lang="tr-TR" spc="-10" noProof="1"/>
              <a:t>Software</a:t>
            </a:r>
            <a:r>
              <a:rPr lang="tr-TR" spc="-20" noProof="1"/>
              <a:t> </a:t>
            </a:r>
            <a:r>
              <a:rPr lang="tr-TR" noProof="1"/>
              <a:t>Engineering</a:t>
            </a:r>
            <a:r>
              <a:rPr lang="tr-TR" spc="180" noProof="1"/>
              <a:t> </a:t>
            </a:r>
            <a:r>
              <a:rPr lang="tr-TR" noProof="1"/>
              <a:t>·</a:t>
            </a:r>
            <a:r>
              <a:rPr lang="tr-TR" spc="165" noProof="1"/>
              <a:t> </a:t>
            </a:r>
            <a:r>
              <a:rPr lang="tr-TR" noProof="1"/>
              <a:t>Spring</a:t>
            </a:r>
            <a:r>
              <a:rPr lang="tr-TR" spc="-15" noProof="1"/>
              <a:t> </a:t>
            </a:r>
            <a:r>
              <a:rPr lang="tr-TR" spc="-20" noProof="1"/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1"/>
              <a:t>Platform</a:t>
            </a:r>
            <a:r>
              <a:rPr lang="en-GB" spc="-80" noProof="1"/>
              <a:t> </a:t>
            </a:r>
            <a:r>
              <a:rPr lang="en-GB" noProof="1"/>
              <a:t>&amp;</a:t>
            </a:r>
            <a:r>
              <a:rPr lang="en-GB" spc="-65" noProof="1"/>
              <a:t> </a:t>
            </a:r>
            <a:r>
              <a:rPr lang="en-GB" spc="-20" noProof="1"/>
              <a:t>Technologies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0543" y="926466"/>
            <a:ext cx="3119311" cy="451484"/>
            <a:chOff x="450544" y="926466"/>
            <a:chExt cx="2755900" cy="451484"/>
          </a:xfrm>
        </p:grpSpPr>
        <p:sp>
          <p:nvSpPr>
            <p:cNvPr id="4" name="object 4"/>
            <p:cNvSpPr/>
            <p:nvPr/>
          </p:nvSpPr>
          <p:spPr>
            <a:xfrm>
              <a:off x="456844" y="932766"/>
              <a:ext cx="2743200" cy="439420"/>
            </a:xfrm>
            <a:custGeom>
              <a:avLst/>
              <a:gdLst/>
              <a:ahLst/>
              <a:cxnLst/>
              <a:rect l="l" t="t" r="r" b="b"/>
              <a:pathLst>
                <a:path w="2743200" h="439419">
                  <a:moveTo>
                    <a:pt x="26697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0"/>
                  </a:lnTo>
                  <a:lnTo>
                    <a:pt x="607" y="375236"/>
                  </a:lnTo>
                  <a:lnTo>
                    <a:pt x="2394" y="384432"/>
                  </a:lnTo>
                  <a:lnTo>
                    <a:pt x="2428" y="384611"/>
                  </a:lnTo>
                  <a:lnTo>
                    <a:pt x="5412" y="393495"/>
                  </a:lnTo>
                  <a:lnTo>
                    <a:pt x="5464" y="393650"/>
                  </a:lnTo>
                  <a:lnTo>
                    <a:pt x="9715" y="402120"/>
                  </a:lnTo>
                  <a:lnTo>
                    <a:pt x="44979" y="433370"/>
                  </a:lnTo>
                  <a:lnTo>
                    <a:pt x="73075" y="438835"/>
                  </a:lnTo>
                  <a:lnTo>
                    <a:pt x="2670111" y="438480"/>
                  </a:lnTo>
                  <a:lnTo>
                    <a:pt x="2714489" y="423376"/>
                  </a:lnTo>
                  <a:lnTo>
                    <a:pt x="2737652" y="393650"/>
                  </a:lnTo>
                  <a:lnTo>
                    <a:pt x="2737729" y="393495"/>
                  </a:lnTo>
                  <a:lnTo>
                    <a:pt x="2740709" y="384611"/>
                  </a:lnTo>
                  <a:lnTo>
                    <a:pt x="2740769" y="384432"/>
                  </a:lnTo>
                  <a:lnTo>
                    <a:pt x="2742552" y="375236"/>
                  </a:lnTo>
                  <a:lnTo>
                    <a:pt x="2742592" y="375030"/>
                  </a:lnTo>
                  <a:lnTo>
                    <a:pt x="2743176" y="365760"/>
                  </a:lnTo>
                  <a:lnTo>
                    <a:pt x="2743200" y="365391"/>
                  </a:lnTo>
                  <a:lnTo>
                    <a:pt x="2742831" y="73075"/>
                  </a:lnTo>
                  <a:lnTo>
                    <a:pt x="2727740" y="28698"/>
                  </a:lnTo>
                  <a:lnTo>
                    <a:pt x="2688790" y="2428"/>
                  </a:lnTo>
                  <a:lnTo>
                    <a:pt x="2679389" y="607"/>
                  </a:lnTo>
                  <a:lnTo>
                    <a:pt x="266975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456844" y="932766"/>
              <a:ext cx="2743200" cy="439420"/>
            </a:xfrm>
            <a:custGeom>
              <a:avLst/>
              <a:gdLst/>
              <a:ahLst/>
              <a:cxnLst/>
              <a:rect l="l" t="t" r="r" b="b"/>
              <a:pathLst>
                <a:path w="2743200" h="439419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2669755" y="0"/>
                  </a:lnTo>
                  <a:lnTo>
                    <a:pt x="2714283" y="15096"/>
                  </a:lnTo>
                  <a:lnTo>
                    <a:pt x="2740402" y="54219"/>
                  </a:lnTo>
                  <a:lnTo>
                    <a:pt x="2742831" y="73075"/>
                  </a:lnTo>
                  <a:lnTo>
                    <a:pt x="2743200" y="365391"/>
                  </a:lnTo>
                  <a:lnTo>
                    <a:pt x="2742592" y="375030"/>
                  </a:lnTo>
                  <a:lnTo>
                    <a:pt x="2740769" y="384432"/>
                  </a:lnTo>
                  <a:lnTo>
                    <a:pt x="2714489" y="423376"/>
                  </a:lnTo>
                  <a:lnTo>
                    <a:pt x="2670111" y="438480"/>
                  </a:lnTo>
                  <a:lnTo>
                    <a:pt x="73075" y="438835"/>
                  </a:lnTo>
                  <a:lnTo>
                    <a:pt x="28548" y="423731"/>
                  </a:lnTo>
                  <a:lnTo>
                    <a:pt x="2428" y="384611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13498" y="1016197"/>
            <a:ext cx="2597137" cy="2385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GB" sz="1450" spc="894" noProof="1">
                <a:solidFill>
                  <a:srgbClr val="FFFFFF"/>
                </a:solidFill>
                <a:latin typeface="Cambria"/>
                <a:cs typeface="Cambria"/>
              </a:rPr>
              <a:t>🌐</a:t>
            </a:r>
            <a:r>
              <a:rPr lang="en-GB" sz="1450" spc="195" noProof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GB" sz="1250" b="1" spc="-10" noProof="1">
                <a:solidFill>
                  <a:srgbClr val="FFFFFF"/>
                </a:solidFill>
                <a:latin typeface="Calibri"/>
                <a:cs typeface="Calibri"/>
              </a:rPr>
              <a:t>Platform:</a:t>
            </a:r>
            <a:r>
              <a:rPr lang="en-GB" sz="1250" b="1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b="1" spc="-10" noProof="1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lang="en-GB" sz="1250" b="1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b="1" spc="-80" noProof="1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4960" y="1471309"/>
            <a:ext cx="2908300" cy="1628139"/>
            <a:chOff x="264960" y="1471309"/>
            <a:chExt cx="2908300" cy="162813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60" y="1471309"/>
              <a:ext cx="2908084" cy="16275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5404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31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600" y="1462684"/>
                  </a:lnTo>
                  <a:lnTo>
                    <a:pt x="2742831" y="146268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404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600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1462684"/>
                  </a:lnTo>
                  <a:lnTo>
                    <a:pt x="1371600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404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31" y="54356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365404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1371600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54356"/>
                  </a:lnTo>
                  <a:lnTo>
                    <a:pt x="1371600" y="54356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2919" y="1735101"/>
            <a:ext cx="6350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05D59F"/>
                </a:solidFill>
                <a:latin typeface="Calibri"/>
                <a:cs typeface="Calibri"/>
              </a:rPr>
              <a:t>Frontend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924" y="2266101"/>
            <a:ext cx="69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6002" y="2292732"/>
            <a:ext cx="7708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React.js </a:t>
            </a:r>
            <a:r>
              <a:rPr lang="en-GB" sz="1250" spc="-25" noProof="1">
                <a:solidFill>
                  <a:srgbClr val="FFFFFF"/>
                </a:solidFill>
                <a:latin typeface="Calibri"/>
                <a:cs typeface="Calibri"/>
              </a:rPr>
              <a:t>TailwindCSS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72675" y="1471309"/>
            <a:ext cx="2908300" cy="1628139"/>
            <a:chOff x="3172675" y="1471309"/>
            <a:chExt cx="2908300" cy="1628139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2675" y="1471309"/>
              <a:ext cx="2908084" cy="162756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73120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44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600" y="1462684"/>
                  </a:lnTo>
                  <a:lnTo>
                    <a:pt x="2742844" y="146268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3273120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600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462684"/>
                  </a:lnTo>
                  <a:lnTo>
                    <a:pt x="1371600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3273120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5FA4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3273120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1371600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54356"/>
                  </a:lnTo>
                  <a:lnTo>
                    <a:pt x="1371600" y="54356"/>
                  </a:lnTo>
                  <a:close/>
                </a:path>
              </a:pathLst>
            </a:custGeom>
            <a:ln w="12599">
              <a:solidFill>
                <a:srgbClr val="5FA4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10635" y="1735101"/>
            <a:ext cx="5892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5FA4F9"/>
                </a:solidFill>
                <a:latin typeface="Calibri"/>
                <a:cs typeface="Calibri"/>
              </a:rPr>
              <a:t>Backend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00640" y="2266101"/>
            <a:ext cx="6921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3718" y="2292732"/>
            <a:ext cx="11893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Node.js</a:t>
            </a:r>
            <a:endParaRPr lang="en-GB" sz="1250" noProof="1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Express</a:t>
            </a:r>
            <a:r>
              <a:rPr lang="en-GB" sz="12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(REST</a:t>
            </a:r>
            <a:r>
              <a:rPr lang="en-GB" sz="12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spc="-20" noProof="1">
                <a:solidFill>
                  <a:srgbClr val="FFFFFF"/>
                </a:solidFill>
                <a:latin typeface="Calibri"/>
                <a:cs typeface="Calibri"/>
              </a:rPr>
              <a:t>API)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80404" y="1431925"/>
            <a:ext cx="2908300" cy="1628139"/>
            <a:chOff x="6080404" y="1471309"/>
            <a:chExt cx="2908300" cy="1628139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0404" y="1471309"/>
              <a:ext cx="2908084" cy="16275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180836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44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599" y="1462684"/>
                  </a:lnTo>
                  <a:lnTo>
                    <a:pt x="2742844" y="146268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8" name="object 28"/>
            <p:cNvSpPr/>
            <p:nvPr/>
          </p:nvSpPr>
          <p:spPr>
            <a:xfrm>
              <a:off x="6180836" y="15357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599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462684"/>
                  </a:lnTo>
                  <a:lnTo>
                    <a:pt x="1371599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9" name="object 29"/>
            <p:cNvSpPr/>
            <p:nvPr/>
          </p:nvSpPr>
          <p:spPr>
            <a:xfrm>
              <a:off x="6180836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599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80836" y="15357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09">
                  <a:moveTo>
                    <a:pt x="1371599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54356"/>
                  </a:lnTo>
                  <a:lnTo>
                    <a:pt x="1371599" y="54356"/>
                  </a:lnTo>
                  <a:close/>
                </a:path>
              </a:pathLst>
            </a:custGeom>
            <a:ln w="12599">
              <a:solidFill>
                <a:srgbClr val="FABE23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318364" y="1735101"/>
            <a:ext cx="6508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FABE23"/>
                </a:solidFill>
                <a:latin typeface="Calibri"/>
                <a:cs typeface="Calibri"/>
              </a:rPr>
              <a:t>Database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08356" y="2361135"/>
            <a:ext cx="692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51434" y="2387779"/>
            <a:ext cx="58102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MySQL</a:t>
            </a:r>
            <a:r>
              <a:rPr lang="en-GB" sz="12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4960" y="3071509"/>
            <a:ext cx="2908300" cy="1628139"/>
            <a:chOff x="264960" y="3071509"/>
            <a:chExt cx="2908300" cy="1628139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60" y="3071509"/>
              <a:ext cx="2908084" cy="162756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5404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31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600" y="1462684"/>
                  </a:lnTo>
                  <a:lnTo>
                    <a:pt x="2742831" y="1462684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404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600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1462684"/>
                  </a:lnTo>
                  <a:lnTo>
                    <a:pt x="1371600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404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3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31" y="54356"/>
                  </a:lnTo>
                  <a:lnTo>
                    <a:pt x="2742831" y="0"/>
                  </a:lnTo>
                  <a:close/>
                </a:path>
              </a:pathLst>
            </a:custGeom>
            <a:solidFill>
              <a:srgbClr val="F77070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9" name="object 39"/>
            <p:cNvSpPr/>
            <p:nvPr/>
          </p:nvSpPr>
          <p:spPr>
            <a:xfrm>
              <a:off x="365404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1371600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31" y="0"/>
                  </a:lnTo>
                  <a:lnTo>
                    <a:pt x="2742831" y="54356"/>
                  </a:lnTo>
                  <a:lnTo>
                    <a:pt x="1371600" y="54356"/>
                  </a:lnTo>
                  <a:close/>
                </a:path>
              </a:pathLst>
            </a:custGeom>
            <a:ln w="12599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02919" y="3335301"/>
            <a:ext cx="10331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F77070"/>
                </a:solidFill>
                <a:latin typeface="Calibri"/>
                <a:cs typeface="Calibri"/>
              </a:rPr>
              <a:t>Authentication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2924" y="3961335"/>
            <a:ext cx="692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6002" y="3987979"/>
            <a:ext cx="154876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lang="en-GB" sz="12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(JSON</a:t>
            </a:r>
            <a:r>
              <a:rPr lang="en-GB" sz="12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lang="en-GB" sz="12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Tokens)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172675" y="3071509"/>
            <a:ext cx="2908300" cy="1628139"/>
            <a:chOff x="3172675" y="3071509"/>
            <a:chExt cx="2908300" cy="1628139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2675" y="3071509"/>
              <a:ext cx="2908084" cy="162756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273120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44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600" y="1462684"/>
                  </a:lnTo>
                  <a:lnTo>
                    <a:pt x="2742844" y="146268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6" name="object 46"/>
            <p:cNvSpPr/>
            <p:nvPr/>
          </p:nvSpPr>
          <p:spPr>
            <a:xfrm>
              <a:off x="3273120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600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462684"/>
                  </a:lnTo>
                  <a:lnTo>
                    <a:pt x="1371600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7" name="object 47"/>
            <p:cNvSpPr/>
            <p:nvPr/>
          </p:nvSpPr>
          <p:spPr>
            <a:xfrm>
              <a:off x="3273120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600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33D29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8" name="object 48"/>
            <p:cNvSpPr/>
            <p:nvPr/>
          </p:nvSpPr>
          <p:spPr>
            <a:xfrm>
              <a:off x="3273120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1371600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54356"/>
                  </a:lnTo>
                  <a:lnTo>
                    <a:pt x="1371600" y="54356"/>
                  </a:lnTo>
                  <a:close/>
                </a:path>
              </a:pathLst>
            </a:custGeom>
            <a:ln w="12599">
              <a:solidFill>
                <a:srgbClr val="33D29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410635" y="3335301"/>
            <a:ext cx="43624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35" noProof="1">
                <a:solidFill>
                  <a:srgbClr val="33D299"/>
                </a:solidFill>
                <a:latin typeface="Calibri"/>
                <a:cs typeface="Calibri"/>
              </a:rPr>
              <a:t>E-</a:t>
            </a:r>
            <a:r>
              <a:rPr lang="en-GB" sz="1300" b="1" spc="-20" noProof="1">
                <a:solidFill>
                  <a:srgbClr val="33D299"/>
                </a:solidFill>
                <a:latin typeface="Calibri"/>
                <a:cs typeface="Calibri"/>
              </a:rPr>
              <a:t>mail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00640" y="3961335"/>
            <a:ext cx="692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843718" y="3987979"/>
            <a:ext cx="110426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SendGrid </a:t>
            </a: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lang="en-GB" sz="12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spc="-20" noProof="1">
                <a:solidFill>
                  <a:srgbClr val="FFFFFF"/>
                </a:solidFill>
                <a:latin typeface="Calibri"/>
                <a:cs typeface="Calibri"/>
              </a:rPr>
              <a:t>SMTP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80404" y="3071509"/>
            <a:ext cx="2908300" cy="1628139"/>
            <a:chOff x="6080404" y="3071509"/>
            <a:chExt cx="2908300" cy="1628139"/>
          </a:xfrm>
        </p:grpSpPr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0404" y="3071509"/>
              <a:ext cx="2908084" cy="162756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180836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2742844" y="0"/>
                  </a:moveTo>
                  <a:lnTo>
                    <a:pt x="0" y="0"/>
                  </a:lnTo>
                  <a:lnTo>
                    <a:pt x="0" y="1462684"/>
                  </a:lnTo>
                  <a:lnTo>
                    <a:pt x="1371599" y="1462684"/>
                  </a:lnTo>
                  <a:lnTo>
                    <a:pt x="2742844" y="1462684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5" name="object 55"/>
            <p:cNvSpPr/>
            <p:nvPr/>
          </p:nvSpPr>
          <p:spPr>
            <a:xfrm>
              <a:off x="6180836" y="3135962"/>
              <a:ext cx="2743200" cy="1463040"/>
            </a:xfrm>
            <a:custGeom>
              <a:avLst/>
              <a:gdLst/>
              <a:ahLst/>
              <a:cxnLst/>
              <a:rect l="l" t="t" r="r" b="b"/>
              <a:pathLst>
                <a:path w="2743200" h="1463039">
                  <a:moveTo>
                    <a:pt x="1371599" y="1462684"/>
                  </a:moveTo>
                  <a:lnTo>
                    <a:pt x="0" y="1462684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1462684"/>
                  </a:lnTo>
                  <a:lnTo>
                    <a:pt x="1371599" y="146268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6" name="object 56"/>
            <p:cNvSpPr/>
            <p:nvPr/>
          </p:nvSpPr>
          <p:spPr>
            <a:xfrm>
              <a:off x="6180836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274284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71599" y="54356"/>
                  </a:lnTo>
                  <a:lnTo>
                    <a:pt x="2742844" y="543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0836" y="3135962"/>
              <a:ext cx="2743200" cy="54610"/>
            </a:xfrm>
            <a:custGeom>
              <a:avLst/>
              <a:gdLst/>
              <a:ahLst/>
              <a:cxnLst/>
              <a:rect l="l" t="t" r="r" b="b"/>
              <a:pathLst>
                <a:path w="2743200" h="54610">
                  <a:moveTo>
                    <a:pt x="1371599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54356"/>
                  </a:lnTo>
                  <a:lnTo>
                    <a:pt x="1371599" y="54356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318364" y="3335301"/>
            <a:ext cx="10655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20" noProof="1">
                <a:solidFill>
                  <a:srgbClr val="A68AF9"/>
                </a:solidFill>
                <a:latin typeface="Calibri"/>
                <a:cs typeface="Calibri"/>
              </a:rPr>
              <a:t>Version</a:t>
            </a:r>
            <a:r>
              <a:rPr lang="en-GB" sz="1300" b="1" spc="-5" noProof="1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A68AF9"/>
                </a:solidFill>
                <a:latin typeface="Calibri"/>
                <a:cs typeface="Calibri"/>
              </a:rPr>
              <a:t>Control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08356" y="3961335"/>
            <a:ext cx="692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250" noProof="1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51434" y="3987979"/>
            <a:ext cx="178117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250" noProof="1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r>
              <a:rPr lang="en-GB" sz="12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250" spc="-20" noProof="1">
                <a:solidFill>
                  <a:srgbClr val="FFFFFF"/>
                </a:solidFill>
                <a:latin typeface="Calibri"/>
                <a:cs typeface="Calibri"/>
              </a:rPr>
              <a:t>(feature-</a:t>
            </a:r>
            <a:r>
              <a:rPr lang="en-GB" sz="1250" spc="-10" noProof="1">
                <a:solidFill>
                  <a:srgbClr val="FFFFFF"/>
                </a:solidFill>
                <a:latin typeface="Calibri"/>
                <a:cs typeface="Calibri"/>
              </a:rPr>
              <a:t>branch </a:t>
            </a:r>
            <a:r>
              <a:rPr lang="en-GB" sz="1250" spc="-20" noProof="1">
                <a:solidFill>
                  <a:srgbClr val="FFFFFF"/>
                </a:solidFill>
                <a:latin typeface="Calibri"/>
                <a:cs typeface="Calibri"/>
              </a:rPr>
              <a:t>Git)</a:t>
            </a:r>
            <a:endParaRPr lang="en-GB" sz="1250" noProof="1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62" name="object 62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3" name="object 63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GB" noProof="1"/>
              <a:t>LaserZone</a:t>
            </a:r>
            <a:r>
              <a:rPr lang="en-GB" spc="165" noProof="1"/>
              <a:t> </a:t>
            </a:r>
            <a:r>
              <a:rPr lang="en-GB" noProof="1"/>
              <a:t>·</a:t>
            </a:r>
            <a:r>
              <a:rPr lang="en-GB" spc="175" noProof="1"/>
              <a:t> </a:t>
            </a:r>
            <a:r>
              <a:rPr lang="en-GB" noProof="1"/>
              <a:t>COMP</a:t>
            </a:r>
            <a:r>
              <a:rPr lang="en-GB" spc="-10" noProof="1"/>
              <a:t> </a:t>
            </a:r>
            <a:r>
              <a:rPr lang="en-GB" noProof="1"/>
              <a:t>202</a:t>
            </a:r>
            <a:r>
              <a:rPr lang="en-GB" spc="-20" noProof="1"/>
              <a:t> </a:t>
            </a:r>
            <a:r>
              <a:rPr lang="en-GB" spc="-10" noProof="1"/>
              <a:t>Software</a:t>
            </a:r>
            <a:r>
              <a:rPr lang="en-GB" spc="-20" noProof="1"/>
              <a:t> </a:t>
            </a:r>
            <a:r>
              <a:rPr lang="en-GB" noProof="1"/>
              <a:t>Engineering</a:t>
            </a:r>
            <a:r>
              <a:rPr lang="en-GB" spc="180" noProof="1"/>
              <a:t> </a:t>
            </a:r>
            <a:r>
              <a:rPr lang="en-GB" noProof="1"/>
              <a:t>·</a:t>
            </a:r>
            <a:r>
              <a:rPr lang="en-GB" spc="165" noProof="1"/>
              <a:t> </a:t>
            </a:r>
            <a:r>
              <a:rPr lang="en-GB" noProof="1"/>
              <a:t>Spring</a:t>
            </a:r>
            <a:r>
              <a:rPr lang="en-GB" spc="-15" noProof="1"/>
              <a:t> </a:t>
            </a:r>
            <a:r>
              <a:rPr lang="en-GB" spc="-20" noProof="1"/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1"/>
              <a:t>Requirements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6964" y="895669"/>
            <a:ext cx="2954020" cy="1948180"/>
            <a:chOff x="246964" y="895669"/>
            <a:chExt cx="2954020" cy="19481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64" y="895669"/>
              <a:ext cx="2953804" cy="19476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7395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278856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82" y="1782724"/>
                  </a:lnTo>
                  <a:lnTo>
                    <a:pt x="2788564" y="1782724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47395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1394282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782724"/>
                  </a:lnTo>
                  <a:lnTo>
                    <a:pt x="1394282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347040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54356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55" y="1782724"/>
                  </a:lnTo>
                  <a:lnTo>
                    <a:pt x="54356" y="178272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47040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27355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782724"/>
                  </a:lnTo>
                  <a:lnTo>
                    <a:pt x="27355" y="1782724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1555" y="1122021"/>
            <a:ext cx="10331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05D59F"/>
                </a:solidFill>
                <a:latin typeface="Calibri"/>
                <a:cs typeface="Calibri"/>
              </a:rPr>
              <a:t>Authentication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560" y="1753097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4638" y="1776503"/>
            <a:ext cx="145605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registration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login 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JWT-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endParaRPr lang="en-GB" sz="1150" noProof="1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roles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91395" y="895669"/>
            <a:ext cx="2954020" cy="1948180"/>
            <a:chOff x="3191395" y="895669"/>
            <a:chExt cx="2954020" cy="19481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1395" y="895669"/>
              <a:ext cx="2953804" cy="19476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91840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278856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82" y="1782724"/>
                  </a:lnTo>
                  <a:lnTo>
                    <a:pt x="2788564" y="1782724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3291840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1394282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782724"/>
                  </a:lnTo>
                  <a:lnTo>
                    <a:pt x="1394282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3291484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54355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55" y="1782724"/>
                  </a:lnTo>
                  <a:lnTo>
                    <a:pt x="54355" y="1782724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5FA4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1484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27355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1782724"/>
                  </a:lnTo>
                  <a:lnTo>
                    <a:pt x="27355" y="1782724"/>
                  </a:lnTo>
                  <a:close/>
                </a:path>
              </a:pathLst>
            </a:custGeom>
            <a:ln w="12599">
              <a:solidFill>
                <a:srgbClr val="5FA4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56000" y="1122021"/>
            <a:ext cx="8883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5FA4F9"/>
                </a:solidFill>
                <a:latin typeface="Calibri"/>
                <a:cs typeface="Calibri"/>
              </a:rPr>
              <a:t>Reservations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46005" y="1753097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9082" y="1776503"/>
            <a:ext cx="171513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Create,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edit,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cancel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bookings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conflict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checking Reservation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history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35839" y="895669"/>
            <a:ext cx="2954020" cy="1948180"/>
            <a:chOff x="6135839" y="895669"/>
            <a:chExt cx="2954020" cy="194818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5839" y="895669"/>
              <a:ext cx="2953804" cy="194760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36284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2788551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69" y="1782724"/>
                  </a:lnTo>
                  <a:lnTo>
                    <a:pt x="2788551" y="1782724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6284" y="96012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80">
                  <a:moveTo>
                    <a:pt x="1394269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1782724"/>
                  </a:lnTo>
                  <a:lnTo>
                    <a:pt x="1394269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5915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54368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68" y="1782724"/>
                  </a:lnTo>
                  <a:lnTo>
                    <a:pt x="54368" y="1782724"/>
                  </a:lnTo>
                  <a:lnTo>
                    <a:pt x="54368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6235915" y="96012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80">
                  <a:moveTo>
                    <a:pt x="27368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68" y="0"/>
                  </a:lnTo>
                  <a:lnTo>
                    <a:pt x="54368" y="1782724"/>
                  </a:lnTo>
                  <a:lnTo>
                    <a:pt x="27368" y="1782724"/>
                  </a:lnTo>
                  <a:close/>
                </a:path>
              </a:pathLst>
            </a:custGeom>
            <a:ln w="12599">
              <a:solidFill>
                <a:srgbClr val="FABE23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400444" y="1122021"/>
            <a:ext cx="14135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noProof="1">
                <a:solidFill>
                  <a:srgbClr val="FABE23"/>
                </a:solidFill>
                <a:latin typeface="Calibri"/>
                <a:cs typeface="Calibri"/>
              </a:rPr>
              <a:t>Group</a:t>
            </a:r>
            <a:r>
              <a:rPr lang="en-GB" sz="1300" b="1" spc="-70" noProof="1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FABE23"/>
                </a:solidFill>
                <a:latin typeface="Calibri"/>
                <a:cs typeface="Calibri"/>
              </a:rPr>
              <a:t>Matchmaking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90436" y="1665619"/>
            <a:ext cx="64769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33514" y="1689013"/>
            <a:ext cx="170624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Open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creation</a:t>
            </a:r>
            <a:endParaRPr lang="en-GB" sz="1150" noProof="1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lang="en-GB" sz="11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approval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flow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lang="en-GB" sz="11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leave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removal Auto-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lock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full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6964" y="2815909"/>
            <a:ext cx="2954020" cy="1948180"/>
            <a:chOff x="246964" y="2815909"/>
            <a:chExt cx="2954020" cy="194818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64" y="2815909"/>
              <a:ext cx="2953804" cy="194760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7395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278856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82" y="1782724"/>
                  </a:lnTo>
                  <a:lnTo>
                    <a:pt x="2788564" y="1782724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395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1394282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782724"/>
                  </a:lnTo>
                  <a:lnTo>
                    <a:pt x="1394282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4" name="object 34"/>
            <p:cNvSpPr/>
            <p:nvPr/>
          </p:nvSpPr>
          <p:spPr>
            <a:xfrm>
              <a:off x="347040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54356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55" y="1782724"/>
                  </a:lnTo>
                  <a:lnTo>
                    <a:pt x="54356" y="1782724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F77070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347040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27355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782724"/>
                  </a:lnTo>
                  <a:lnTo>
                    <a:pt x="27355" y="1782724"/>
                  </a:lnTo>
                  <a:close/>
                </a:path>
              </a:pathLst>
            </a:custGeom>
            <a:ln w="12599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11555" y="3042261"/>
            <a:ext cx="8782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Admin</a:t>
            </a:r>
            <a:r>
              <a:rPr lang="en-GB" sz="1300" b="1" spc="-65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F77070"/>
                </a:solidFill>
                <a:latin typeface="Calibri"/>
                <a:cs typeface="Calibri"/>
              </a:rPr>
              <a:t>Panel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1560" y="3673337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4638" y="3696743"/>
            <a:ext cx="190690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reservations Configure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hours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slots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lang="en-GB" sz="11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ranges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191395" y="2815909"/>
            <a:ext cx="2954020" cy="1948180"/>
            <a:chOff x="3191395" y="2815909"/>
            <a:chExt cx="2954020" cy="194818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1395" y="2815909"/>
              <a:ext cx="2953804" cy="194760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91840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2788564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82" y="1782724"/>
                  </a:lnTo>
                  <a:lnTo>
                    <a:pt x="2788564" y="1782724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2" name="object 42"/>
            <p:cNvSpPr/>
            <p:nvPr/>
          </p:nvSpPr>
          <p:spPr>
            <a:xfrm>
              <a:off x="3291840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1394282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782724"/>
                  </a:lnTo>
                  <a:lnTo>
                    <a:pt x="1394282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3" name="object 43"/>
            <p:cNvSpPr/>
            <p:nvPr/>
          </p:nvSpPr>
          <p:spPr>
            <a:xfrm>
              <a:off x="3291484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54355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55" y="1782724"/>
                  </a:lnTo>
                  <a:lnTo>
                    <a:pt x="54355" y="1782724"/>
                  </a:lnTo>
                  <a:lnTo>
                    <a:pt x="54355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4" name="object 44"/>
            <p:cNvSpPr/>
            <p:nvPr/>
          </p:nvSpPr>
          <p:spPr>
            <a:xfrm>
              <a:off x="3291484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27355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55" y="0"/>
                  </a:lnTo>
                  <a:lnTo>
                    <a:pt x="54355" y="1782724"/>
                  </a:lnTo>
                  <a:lnTo>
                    <a:pt x="27355" y="1782724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456000" y="3042261"/>
            <a:ext cx="88391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A68AF9"/>
                </a:solidFill>
                <a:latin typeface="Calibri"/>
                <a:cs typeface="Calibri"/>
              </a:rPr>
              <a:t>Notifications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46005" y="3673337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89082" y="3696743"/>
            <a:ext cx="1898014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48005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lang="en-GB" sz="1150" spc="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lang="en-GB" sz="1150" spc="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bell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5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lang="en-GB" sz="11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endParaRPr lang="en-GB" sz="1150" noProof="1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30-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polling,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mark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read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135839" y="2815909"/>
            <a:ext cx="2954020" cy="1948180"/>
            <a:chOff x="6135839" y="2815909"/>
            <a:chExt cx="2954020" cy="1948180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5839" y="2815909"/>
              <a:ext cx="2953804" cy="194760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36284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2788551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1394269" y="1782724"/>
                  </a:lnTo>
                  <a:lnTo>
                    <a:pt x="2788551" y="1782724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1" name="object 51"/>
            <p:cNvSpPr/>
            <p:nvPr/>
          </p:nvSpPr>
          <p:spPr>
            <a:xfrm>
              <a:off x="6236284" y="2880362"/>
              <a:ext cx="2788920" cy="1783080"/>
            </a:xfrm>
            <a:custGeom>
              <a:avLst/>
              <a:gdLst/>
              <a:ahLst/>
              <a:cxnLst/>
              <a:rect l="l" t="t" r="r" b="b"/>
              <a:pathLst>
                <a:path w="2788920" h="1783079">
                  <a:moveTo>
                    <a:pt x="1394269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1782724"/>
                  </a:lnTo>
                  <a:lnTo>
                    <a:pt x="1394269" y="1782724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2" name="object 52"/>
            <p:cNvSpPr/>
            <p:nvPr/>
          </p:nvSpPr>
          <p:spPr>
            <a:xfrm>
              <a:off x="6235915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54368" y="0"/>
                  </a:moveTo>
                  <a:lnTo>
                    <a:pt x="0" y="0"/>
                  </a:lnTo>
                  <a:lnTo>
                    <a:pt x="0" y="1782724"/>
                  </a:lnTo>
                  <a:lnTo>
                    <a:pt x="27368" y="1782724"/>
                  </a:lnTo>
                  <a:lnTo>
                    <a:pt x="54368" y="1782724"/>
                  </a:lnTo>
                  <a:lnTo>
                    <a:pt x="54368" y="0"/>
                  </a:lnTo>
                  <a:close/>
                </a:path>
              </a:pathLst>
            </a:custGeom>
            <a:solidFill>
              <a:srgbClr val="33D29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35915" y="2880362"/>
              <a:ext cx="54610" cy="1783080"/>
            </a:xfrm>
            <a:custGeom>
              <a:avLst/>
              <a:gdLst/>
              <a:ahLst/>
              <a:cxnLst/>
              <a:rect l="l" t="t" r="r" b="b"/>
              <a:pathLst>
                <a:path w="54610" h="1783079">
                  <a:moveTo>
                    <a:pt x="27368" y="1782724"/>
                  </a:moveTo>
                  <a:lnTo>
                    <a:pt x="0" y="1782724"/>
                  </a:lnTo>
                  <a:lnTo>
                    <a:pt x="0" y="0"/>
                  </a:lnTo>
                  <a:lnTo>
                    <a:pt x="54368" y="0"/>
                  </a:lnTo>
                  <a:lnTo>
                    <a:pt x="54368" y="1782724"/>
                  </a:lnTo>
                  <a:lnTo>
                    <a:pt x="27368" y="1782724"/>
                  </a:lnTo>
                  <a:close/>
                </a:path>
              </a:pathLst>
            </a:custGeom>
            <a:ln w="12599">
              <a:solidFill>
                <a:srgbClr val="33D29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400444" y="3042261"/>
            <a:ext cx="1028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300" b="1" spc="-10" noProof="1">
                <a:solidFill>
                  <a:srgbClr val="33D299"/>
                </a:solidFill>
                <a:latin typeface="Calibri"/>
                <a:cs typeface="Calibri"/>
              </a:rPr>
              <a:t>Multilingual</a:t>
            </a:r>
            <a:r>
              <a:rPr lang="en-GB" sz="1300" b="1" spc="-5" noProof="1">
                <a:solidFill>
                  <a:srgbClr val="33D299"/>
                </a:solidFill>
                <a:latin typeface="Calibri"/>
                <a:cs typeface="Calibri"/>
              </a:rPr>
              <a:t> </a:t>
            </a:r>
            <a:r>
              <a:rPr lang="en-GB" sz="1300" b="1" spc="-25" noProof="1">
                <a:solidFill>
                  <a:srgbClr val="33D299"/>
                </a:solidFill>
                <a:latin typeface="Calibri"/>
                <a:cs typeface="Calibri"/>
              </a:rPr>
              <a:t>UI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90436" y="3761183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833514" y="3784576"/>
            <a:ext cx="184467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Turkish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English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support Persistent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preference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8" name="object 58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9" name="object 59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GB" noProof="1"/>
              <a:t>LaserZone</a:t>
            </a:r>
            <a:r>
              <a:rPr lang="en-GB" spc="165" noProof="1"/>
              <a:t> </a:t>
            </a:r>
            <a:r>
              <a:rPr lang="en-GB" noProof="1"/>
              <a:t>·</a:t>
            </a:r>
            <a:r>
              <a:rPr lang="en-GB" spc="175" noProof="1"/>
              <a:t> </a:t>
            </a:r>
            <a:r>
              <a:rPr lang="en-GB" noProof="1"/>
              <a:t>COMP</a:t>
            </a:r>
            <a:r>
              <a:rPr lang="en-GB" spc="-10" noProof="1"/>
              <a:t> </a:t>
            </a:r>
            <a:r>
              <a:rPr lang="en-GB" noProof="1"/>
              <a:t>202</a:t>
            </a:r>
            <a:r>
              <a:rPr lang="en-GB" spc="-20" noProof="1"/>
              <a:t> </a:t>
            </a:r>
            <a:r>
              <a:rPr lang="en-GB" spc="-10" noProof="1"/>
              <a:t>Software</a:t>
            </a:r>
            <a:r>
              <a:rPr lang="en-GB" spc="-20" noProof="1"/>
              <a:t> </a:t>
            </a:r>
            <a:r>
              <a:rPr lang="en-GB" noProof="1"/>
              <a:t>Engineering</a:t>
            </a:r>
            <a:r>
              <a:rPr lang="en-GB" spc="180" noProof="1"/>
              <a:t> </a:t>
            </a:r>
            <a:r>
              <a:rPr lang="en-GB" noProof="1"/>
              <a:t>·</a:t>
            </a:r>
            <a:r>
              <a:rPr lang="en-GB" spc="165" noProof="1"/>
              <a:t> </a:t>
            </a:r>
            <a:r>
              <a:rPr lang="en-GB" noProof="1"/>
              <a:t>Spring</a:t>
            </a:r>
            <a:r>
              <a:rPr lang="en-GB" spc="-15" noProof="1"/>
              <a:t> </a:t>
            </a:r>
            <a:r>
              <a:rPr lang="en-GB" spc="-20" noProof="1"/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1"/>
              <a:t>Difficulties</a:t>
            </a:r>
            <a:r>
              <a:rPr lang="en-GB" spc="-55" noProof="1"/>
              <a:t> </a:t>
            </a:r>
            <a:r>
              <a:rPr lang="en-GB" noProof="1"/>
              <a:t>&amp;</a:t>
            </a:r>
            <a:r>
              <a:rPr lang="en-GB" spc="-55" noProof="1"/>
              <a:t> </a:t>
            </a:r>
            <a:r>
              <a:rPr lang="en-GB" spc="-10" noProof="1"/>
              <a:t>Issues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5315" y="895669"/>
            <a:ext cx="4417060" cy="1372235"/>
            <a:chOff x="265315" y="895669"/>
            <a:chExt cx="4417060" cy="13722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315" y="895669"/>
              <a:ext cx="4416844" cy="137161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760" y="96012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60" h="1207135">
                  <a:moveTo>
                    <a:pt x="425160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125802" y="1206715"/>
                  </a:lnTo>
                  <a:lnTo>
                    <a:pt x="4251604" y="1206715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" y="96012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60" h="1207135">
                  <a:moveTo>
                    <a:pt x="212580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06715"/>
                  </a:lnTo>
                  <a:lnTo>
                    <a:pt x="2125802" y="120671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365404" y="96012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65404" y="96012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27355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06715"/>
                  </a:lnTo>
                  <a:lnTo>
                    <a:pt x="27355" y="1206715"/>
                  </a:lnTo>
                  <a:close/>
                </a:path>
              </a:pathLst>
            </a:custGeom>
            <a:ln w="12599">
              <a:solidFill>
                <a:srgbClr val="FABE23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9920" y="1102529"/>
            <a:ext cx="181419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-690" noProof="1">
                <a:solidFill>
                  <a:srgbClr val="FABE23"/>
                </a:solidFill>
                <a:latin typeface="Cambria"/>
                <a:cs typeface="Cambria"/>
              </a:rPr>
              <a:t>⚠️</a:t>
            </a:r>
            <a:r>
              <a:rPr lang="en-GB" sz="1500" spc="225" noProof="1">
                <a:solidFill>
                  <a:srgbClr val="FABE23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FABE23"/>
                </a:solidFill>
                <a:latin typeface="Calibri"/>
                <a:cs typeface="Calibri"/>
              </a:rPr>
              <a:t>Slot</a:t>
            </a:r>
            <a:r>
              <a:rPr lang="en-GB" sz="1300" b="1" spc="-40" noProof="1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FABE23"/>
                </a:solidFill>
                <a:latin typeface="Calibri"/>
                <a:cs typeface="Calibri"/>
              </a:rPr>
              <a:t>Conflict</a:t>
            </a:r>
            <a:r>
              <a:rPr lang="en-GB" sz="1300" b="1" spc="-20" noProof="1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FABE23"/>
                </a:solidFill>
                <a:latin typeface="Calibri"/>
                <a:cs typeface="Calibri"/>
              </a:rPr>
              <a:t>Detection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9925" y="1483463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3002" y="1506856"/>
            <a:ext cx="338772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bookings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overlap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slot</a:t>
            </a:r>
            <a:endParaRPr lang="en-GB" sz="1150" noProof="1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One-group-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per-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slot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both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individual</a:t>
            </a:r>
            <a:r>
              <a:rPr lang="en-GB" sz="1150" spc="-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group types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00155" y="895669"/>
            <a:ext cx="4417060" cy="1372235"/>
            <a:chOff x="4700155" y="895669"/>
            <a:chExt cx="4417060" cy="137223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155" y="895669"/>
              <a:ext cx="4416844" cy="13716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00600" y="96012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425160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125802" y="1206715"/>
                  </a:lnTo>
                  <a:lnTo>
                    <a:pt x="4251604" y="1206715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0600" y="96012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212580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06715"/>
                  </a:lnTo>
                  <a:lnTo>
                    <a:pt x="2125802" y="120671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4800244" y="96012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5FA4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244" y="96012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27355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06715"/>
                  </a:lnTo>
                  <a:lnTo>
                    <a:pt x="27355" y="1206715"/>
                  </a:lnTo>
                  <a:close/>
                </a:path>
              </a:pathLst>
            </a:custGeom>
            <a:ln w="12599">
              <a:solidFill>
                <a:srgbClr val="5FA4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64760" y="1102529"/>
            <a:ext cx="1910714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5FA4F9"/>
                </a:solidFill>
                <a:latin typeface="Cambria"/>
                <a:cs typeface="Cambria"/>
              </a:rPr>
              <a:t>🔗</a:t>
            </a:r>
            <a:r>
              <a:rPr lang="en-GB" sz="1500" spc="160" noProof="1">
                <a:solidFill>
                  <a:srgbClr val="5FA4F9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5FA4F9"/>
                </a:solidFill>
                <a:latin typeface="Calibri"/>
                <a:cs typeface="Calibri"/>
              </a:rPr>
              <a:t>Group</a:t>
            </a:r>
            <a:r>
              <a:rPr lang="en-GB" sz="1300" b="1" spc="-30" noProof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5FA4F9"/>
                </a:solidFill>
                <a:latin typeface="Calibri"/>
                <a:cs typeface="Calibri"/>
              </a:rPr>
              <a:t>State</a:t>
            </a:r>
            <a:r>
              <a:rPr lang="en-GB" sz="1300" b="1" spc="-50" noProof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lang="en-GB" sz="1300" b="1" spc="-85" noProof="1">
                <a:solidFill>
                  <a:srgbClr val="5FA4F9"/>
                </a:solidFill>
                <a:latin typeface="Calibri"/>
                <a:cs typeface="Calibri"/>
              </a:rPr>
              <a:t>Complexity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54765" y="1571296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97843" y="1594703"/>
            <a:ext cx="334137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states: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 pending,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approved,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rejected,</a:t>
            </a:r>
            <a:r>
              <a:rPr lang="en-GB" sz="1150" spc="-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left,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removed Auto-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locking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reaches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capacity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5315" y="2221549"/>
            <a:ext cx="4417060" cy="1372235"/>
            <a:chOff x="265315" y="2221549"/>
            <a:chExt cx="4417060" cy="137223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315" y="2221549"/>
              <a:ext cx="4416844" cy="137161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5760" y="2286001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60" h="1207135">
                  <a:moveTo>
                    <a:pt x="425160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125802" y="1206715"/>
                  </a:lnTo>
                  <a:lnTo>
                    <a:pt x="4251604" y="1206715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365760" y="2286001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60" h="1207135">
                  <a:moveTo>
                    <a:pt x="212580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06715"/>
                  </a:lnTo>
                  <a:lnTo>
                    <a:pt x="2125802" y="120671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5" name="object 25"/>
            <p:cNvSpPr/>
            <p:nvPr/>
          </p:nvSpPr>
          <p:spPr>
            <a:xfrm>
              <a:off x="365404" y="2286001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A68A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365404" y="2286001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09" h="1207135">
                  <a:moveTo>
                    <a:pt x="27355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06715"/>
                  </a:lnTo>
                  <a:lnTo>
                    <a:pt x="27355" y="1206715"/>
                  </a:lnTo>
                  <a:close/>
                </a:path>
              </a:pathLst>
            </a:custGeom>
            <a:ln w="12599">
              <a:solidFill>
                <a:srgbClr val="A68A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9920" y="2428409"/>
            <a:ext cx="1621155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A68AF9"/>
                </a:solidFill>
                <a:latin typeface="Cambria"/>
                <a:cs typeface="Cambria"/>
              </a:rPr>
              <a:t>🔔</a:t>
            </a:r>
            <a:r>
              <a:rPr lang="en-GB" sz="1500" spc="200" noProof="1">
                <a:solidFill>
                  <a:srgbClr val="A68AF9"/>
                </a:solidFill>
                <a:latin typeface="Cambria"/>
                <a:cs typeface="Cambria"/>
              </a:rPr>
              <a:t> </a:t>
            </a:r>
            <a:r>
              <a:rPr lang="en-GB" sz="1300" b="1" spc="-10" noProof="1">
                <a:solidFill>
                  <a:srgbClr val="A68AF9"/>
                </a:solidFill>
                <a:latin typeface="Calibri"/>
                <a:cs typeface="Calibri"/>
              </a:rPr>
              <a:t>Notification</a:t>
            </a:r>
            <a:r>
              <a:rPr lang="en-GB" sz="1300" b="1" spc="-20" noProof="1">
                <a:solidFill>
                  <a:srgbClr val="A68AF9"/>
                </a:solidFill>
                <a:latin typeface="Calibri"/>
                <a:cs typeface="Calibri"/>
              </a:rPr>
              <a:t> </a:t>
            </a:r>
            <a:r>
              <a:rPr lang="en-GB" sz="1300" b="1" spc="-140" noProof="1">
                <a:solidFill>
                  <a:srgbClr val="A68AF9"/>
                </a:solidFill>
                <a:latin typeface="Calibri"/>
                <a:cs typeface="Calibri"/>
              </a:rPr>
              <a:t>System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9925" y="2897176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3002" y="2920582"/>
            <a:ext cx="322961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notification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unread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badge</a:t>
            </a:r>
            <a:endParaRPr lang="en-GB" sz="1150" noProof="1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30-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second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polling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duplicates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missed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events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700155" y="2221549"/>
            <a:ext cx="4417060" cy="1372235"/>
            <a:chOff x="4700155" y="2221549"/>
            <a:chExt cx="4417060" cy="137223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155" y="2221549"/>
              <a:ext cx="4416844" cy="13716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00600" y="2286001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425160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125802" y="1206715"/>
                  </a:lnTo>
                  <a:lnTo>
                    <a:pt x="4251604" y="1206715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3" name="object 33"/>
            <p:cNvSpPr/>
            <p:nvPr/>
          </p:nvSpPr>
          <p:spPr>
            <a:xfrm>
              <a:off x="4800600" y="2286001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212580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06715"/>
                  </a:lnTo>
                  <a:lnTo>
                    <a:pt x="2125802" y="120671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4" name="object 34"/>
            <p:cNvSpPr/>
            <p:nvPr/>
          </p:nvSpPr>
          <p:spPr>
            <a:xfrm>
              <a:off x="4800244" y="2286001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F77070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4800244" y="2286001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27355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06715"/>
                  </a:lnTo>
                  <a:lnTo>
                    <a:pt x="27355" y="1206715"/>
                  </a:lnTo>
                  <a:close/>
                </a:path>
              </a:pathLst>
            </a:custGeom>
            <a:ln w="12599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48016" y="2434196"/>
            <a:ext cx="2731440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F77070"/>
                </a:solidFill>
                <a:latin typeface="Cambria"/>
                <a:cs typeface="Cambria"/>
              </a:rPr>
              <a:t>🔐</a:t>
            </a:r>
            <a:r>
              <a:rPr lang="en-GB" sz="1500" spc="190" noProof="1">
                <a:solidFill>
                  <a:srgbClr val="F77070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JWT</a:t>
            </a:r>
            <a:r>
              <a:rPr lang="en-GB" sz="1300" b="1" spc="-25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Auth</a:t>
            </a:r>
            <a:r>
              <a:rPr lang="en-GB" sz="1300" b="1" spc="-30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&amp;</a:t>
            </a:r>
            <a:r>
              <a:rPr lang="en-GB" sz="1300" b="1" spc="-20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Role</a:t>
            </a:r>
            <a:r>
              <a:rPr lang="en-GB" sz="1300" b="1" spc="-20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spc="-135" noProof="1">
                <a:solidFill>
                  <a:srgbClr val="F77070"/>
                </a:solidFill>
                <a:latin typeface="Calibri"/>
                <a:cs typeface="Calibri"/>
              </a:rPr>
              <a:t>Guards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54765" y="2897176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97843" y="2920582"/>
            <a:ext cx="316801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Protecting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routes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via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middleware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Handling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token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expiry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gracefully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350084" y="3547429"/>
            <a:ext cx="4417060" cy="1372235"/>
            <a:chOff x="2350084" y="3547429"/>
            <a:chExt cx="4417060" cy="137223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50084" y="3547429"/>
              <a:ext cx="4416844" cy="13716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450515" y="361188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4251604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125802" y="1206715"/>
                  </a:lnTo>
                  <a:lnTo>
                    <a:pt x="4251604" y="1206715"/>
                  </a:lnTo>
                  <a:lnTo>
                    <a:pt x="425160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2" name="object 42"/>
            <p:cNvSpPr/>
            <p:nvPr/>
          </p:nvSpPr>
          <p:spPr>
            <a:xfrm>
              <a:off x="2450515" y="3611882"/>
              <a:ext cx="4251960" cy="1207135"/>
            </a:xfrm>
            <a:custGeom>
              <a:avLst/>
              <a:gdLst/>
              <a:ahLst/>
              <a:cxnLst/>
              <a:rect l="l" t="t" r="r" b="b"/>
              <a:pathLst>
                <a:path w="4251959" h="1207135">
                  <a:moveTo>
                    <a:pt x="2125802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4251604" y="0"/>
                  </a:lnTo>
                  <a:lnTo>
                    <a:pt x="4251604" y="1206715"/>
                  </a:lnTo>
                  <a:lnTo>
                    <a:pt x="2125802" y="1206715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3" name="object 43"/>
            <p:cNvSpPr/>
            <p:nvPr/>
          </p:nvSpPr>
          <p:spPr>
            <a:xfrm>
              <a:off x="2450160" y="361188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54356" y="0"/>
                  </a:moveTo>
                  <a:lnTo>
                    <a:pt x="0" y="0"/>
                  </a:lnTo>
                  <a:lnTo>
                    <a:pt x="0" y="1206715"/>
                  </a:lnTo>
                  <a:lnTo>
                    <a:pt x="27355" y="1206715"/>
                  </a:lnTo>
                  <a:lnTo>
                    <a:pt x="54356" y="1206715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93A2B7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0160" y="3611882"/>
              <a:ext cx="54610" cy="1207135"/>
            </a:xfrm>
            <a:custGeom>
              <a:avLst/>
              <a:gdLst/>
              <a:ahLst/>
              <a:cxnLst/>
              <a:rect l="l" t="t" r="r" b="b"/>
              <a:pathLst>
                <a:path w="54610" h="1207135">
                  <a:moveTo>
                    <a:pt x="27355" y="1206715"/>
                  </a:moveTo>
                  <a:lnTo>
                    <a:pt x="0" y="1206715"/>
                  </a:lnTo>
                  <a:lnTo>
                    <a:pt x="0" y="0"/>
                  </a:lnTo>
                  <a:lnTo>
                    <a:pt x="54356" y="0"/>
                  </a:lnTo>
                  <a:lnTo>
                    <a:pt x="54356" y="1206715"/>
                  </a:lnTo>
                  <a:lnTo>
                    <a:pt x="27355" y="1206715"/>
                  </a:lnTo>
                  <a:close/>
                </a:path>
              </a:pathLst>
            </a:custGeom>
            <a:ln w="12599">
              <a:solidFill>
                <a:srgbClr val="93A2B7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614676" y="3754289"/>
            <a:ext cx="2094230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93A2B7"/>
                </a:solidFill>
                <a:latin typeface="Cambria"/>
                <a:cs typeface="Cambria"/>
              </a:rPr>
              <a:t>🚧</a:t>
            </a:r>
            <a:r>
              <a:rPr lang="en-GB" sz="1500" spc="180" noProof="1">
                <a:solidFill>
                  <a:srgbClr val="93A2B7"/>
                </a:solidFill>
                <a:latin typeface="Cambria"/>
                <a:cs typeface="Cambria"/>
              </a:rPr>
              <a:t> </a:t>
            </a:r>
            <a:r>
              <a:rPr lang="en-GB" sz="1300" b="1" spc="-10" noProof="1">
                <a:solidFill>
                  <a:srgbClr val="93A2B7"/>
                </a:solidFill>
                <a:latin typeface="Calibri"/>
                <a:cs typeface="Calibri"/>
              </a:rPr>
              <a:t>Pending</a:t>
            </a:r>
            <a:r>
              <a:rPr lang="en-GB" sz="1300" b="1" spc="-20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93A2B7"/>
                </a:solidFill>
                <a:latin typeface="Calibri"/>
                <a:cs typeface="Calibri"/>
              </a:rPr>
              <a:t>Items</a:t>
            </a:r>
            <a:r>
              <a:rPr lang="en-GB" sz="1300" b="1" spc="-35" noProof="1">
                <a:solidFill>
                  <a:srgbClr val="93A2B7"/>
                </a:solidFill>
                <a:latin typeface="Calibri"/>
                <a:cs typeface="Calibri"/>
              </a:rPr>
              <a:t> 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04680" y="4135223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47758" y="4158617"/>
            <a:ext cx="2030095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mail</a:t>
            </a:r>
            <a:r>
              <a:rPr lang="en-GB" sz="11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lang="en-GB" sz="11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(SendGrid)</a:t>
            </a:r>
            <a:endParaRPr lang="en-GB" sz="1150" noProof="1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lang="en-GB" sz="1150" spc="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availability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(WebSocket)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CI/CD</a:t>
            </a:r>
            <a:r>
              <a:rPr lang="en-GB" sz="11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lang="en-GB" sz="11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pipeline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49" name="object 49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0" name="object 50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lang="en-GB" noProof="1"/>
              <a:t>LaserZone</a:t>
            </a:r>
            <a:r>
              <a:rPr lang="en-GB" spc="165" noProof="1"/>
              <a:t> </a:t>
            </a:r>
            <a:r>
              <a:rPr lang="en-GB" noProof="1"/>
              <a:t>·</a:t>
            </a:r>
            <a:r>
              <a:rPr lang="en-GB" spc="175" noProof="1"/>
              <a:t> </a:t>
            </a:r>
            <a:r>
              <a:rPr lang="en-GB" noProof="1"/>
              <a:t>COMP</a:t>
            </a:r>
            <a:r>
              <a:rPr lang="en-GB" spc="-10" noProof="1"/>
              <a:t> </a:t>
            </a:r>
            <a:r>
              <a:rPr lang="en-GB" noProof="1"/>
              <a:t>202</a:t>
            </a:r>
            <a:r>
              <a:rPr lang="en-GB" spc="-20" noProof="1"/>
              <a:t> </a:t>
            </a:r>
            <a:r>
              <a:rPr lang="en-GB" spc="-10" noProof="1"/>
              <a:t>Software</a:t>
            </a:r>
            <a:r>
              <a:rPr lang="en-GB" spc="-20" noProof="1"/>
              <a:t> </a:t>
            </a:r>
            <a:r>
              <a:rPr lang="en-GB" noProof="1"/>
              <a:t>Engineering</a:t>
            </a:r>
            <a:r>
              <a:rPr lang="en-GB" spc="180" noProof="1"/>
              <a:t> </a:t>
            </a:r>
            <a:r>
              <a:rPr lang="en-GB" noProof="1"/>
              <a:t>·</a:t>
            </a:r>
            <a:r>
              <a:rPr lang="en-GB" spc="165" noProof="1"/>
              <a:t> </a:t>
            </a:r>
            <a:r>
              <a:rPr lang="en-GB" noProof="1"/>
              <a:t>Spring</a:t>
            </a:r>
            <a:r>
              <a:rPr lang="en-GB" spc="-15" noProof="1"/>
              <a:t> </a:t>
            </a:r>
            <a:r>
              <a:rPr lang="en-GB" spc="-20" noProof="1"/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1"/>
              <a:t>What</a:t>
            </a:r>
            <a:r>
              <a:rPr lang="en-GB" spc="-95" noProof="1"/>
              <a:t> </a:t>
            </a:r>
            <a:r>
              <a:rPr lang="en-GB" noProof="1"/>
              <a:t>We</a:t>
            </a:r>
            <a:r>
              <a:rPr lang="en-GB" spc="-95" noProof="1"/>
              <a:t> </a:t>
            </a:r>
            <a:r>
              <a:rPr lang="en-GB" spc="-10" noProof="1"/>
              <a:t>Learned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6964" y="895669"/>
            <a:ext cx="2954020" cy="1701164"/>
            <a:chOff x="246964" y="895669"/>
            <a:chExt cx="2954020" cy="170116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64" y="895669"/>
              <a:ext cx="2953804" cy="1700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7395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64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82" y="1535760"/>
                  </a:lnTo>
                  <a:lnTo>
                    <a:pt x="2788564" y="15357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47395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82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535760"/>
                  </a:lnTo>
                  <a:lnTo>
                    <a:pt x="1394282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347395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278856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94282" y="54356"/>
                  </a:lnTo>
                  <a:lnTo>
                    <a:pt x="2788564" y="54356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47395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1394282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54356"/>
                  </a:lnTo>
                  <a:lnTo>
                    <a:pt x="1394282" y="54356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4200" y="1120893"/>
            <a:ext cx="2350084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7B39EC"/>
                </a:solidFill>
                <a:latin typeface="Cambria"/>
                <a:cs typeface="Cambria"/>
              </a:rPr>
              <a:t>🧩</a:t>
            </a:r>
            <a:r>
              <a:rPr lang="en-GB" sz="1500" spc="175" noProof="1">
                <a:solidFill>
                  <a:srgbClr val="7B39EC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7B39EC"/>
                </a:solidFill>
                <a:latin typeface="Calibri"/>
                <a:cs typeface="Calibri"/>
              </a:rPr>
              <a:t>Agile</a:t>
            </a:r>
            <a:r>
              <a:rPr lang="en-GB" sz="1300" b="1" spc="-25" noProof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7B39EC"/>
                </a:solidFill>
                <a:latin typeface="Calibri"/>
                <a:cs typeface="Calibri"/>
              </a:rPr>
              <a:t>Sprint</a:t>
            </a:r>
            <a:r>
              <a:rPr lang="en-GB" sz="1300" b="1" spc="-30" noProof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lang="en-GB" sz="1300" b="1" spc="-105" noProof="1">
                <a:solidFill>
                  <a:srgbClr val="7B39EC"/>
                </a:solidFill>
                <a:latin typeface="Calibri"/>
                <a:cs typeface="Calibri"/>
              </a:rPr>
              <a:t>Planning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4205" y="1560501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7282" y="1583895"/>
            <a:ext cx="1922780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Dividing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sprints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kept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us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track</a:t>
            </a:r>
            <a:endParaRPr lang="en-GB" sz="1150" noProof="1">
              <a:latin typeface="Calibri"/>
              <a:cs typeface="Calibri"/>
            </a:endParaRPr>
          </a:p>
          <a:p>
            <a:pPr marR="211454"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points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helped</a:t>
            </a:r>
            <a:r>
              <a:rPr lang="en-GB" sz="1150" spc="-4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estimate realistic</a:t>
            </a:r>
            <a:r>
              <a:rPr lang="en-GB" sz="1150" spc="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scope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91395" y="895669"/>
            <a:ext cx="2954020" cy="1701164"/>
            <a:chOff x="3191395" y="895669"/>
            <a:chExt cx="2954020" cy="1701164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1395" y="895669"/>
              <a:ext cx="2953804" cy="17006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91840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64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82" y="1535760"/>
                  </a:lnTo>
                  <a:lnTo>
                    <a:pt x="2788564" y="15357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3291840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82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535760"/>
                  </a:lnTo>
                  <a:lnTo>
                    <a:pt x="1394282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3291840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2788564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94282" y="54356"/>
                  </a:lnTo>
                  <a:lnTo>
                    <a:pt x="2788564" y="54356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5FA4F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3291840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1394282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54356"/>
                  </a:lnTo>
                  <a:lnTo>
                    <a:pt x="1394282" y="54356"/>
                  </a:lnTo>
                  <a:close/>
                </a:path>
              </a:pathLst>
            </a:custGeom>
            <a:ln w="12599">
              <a:solidFill>
                <a:srgbClr val="5FA4F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28644" y="1120893"/>
            <a:ext cx="2057756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5FA4F9"/>
                </a:solidFill>
                <a:latin typeface="Cambria"/>
                <a:cs typeface="Cambria"/>
              </a:rPr>
              <a:t>🔄</a:t>
            </a:r>
            <a:r>
              <a:rPr lang="en-GB" sz="1500" spc="190" noProof="1">
                <a:solidFill>
                  <a:srgbClr val="5FA4F9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5FA4F9"/>
                </a:solidFill>
                <a:latin typeface="Calibri"/>
                <a:cs typeface="Calibri"/>
              </a:rPr>
              <a:t>REST</a:t>
            </a:r>
            <a:r>
              <a:rPr lang="en-GB" sz="1300" b="1" spc="-20" noProof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5FA4F9"/>
                </a:solidFill>
                <a:latin typeface="Calibri"/>
                <a:cs typeface="Calibri"/>
              </a:rPr>
              <a:t>API</a:t>
            </a:r>
            <a:r>
              <a:rPr lang="en-GB" sz="1300" b="1" spc="-30" noProof="1">
                <a:solidFill>
                  <a:srgbClr val="5FA4F9"/>
                </a:solidFill>
                <a:latin typeface="Calibri"/>
                <a:cs typeface="Calibri"/>
              </a:rPr>
              <a:t> </a:t>
            </a:r>
            <a:r>
              <a:rPr lang="en-GB" sz="1300" b="1" spc="-135" noProof="1">
                <a:solidFill>
                  <a:srgbClr val="5FA4F9"/>
                </a:solidFill>
                <a:latin typeface="Calibri"/>
                <a:cs typeface="Calibri"/>
              </a:rPr>
              <a:t>Design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18636" y="1560501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1714" y="1583895"/>
            <a:ext cx="189928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Clean,</a:t>
            </a:r>
            <a:r>
              <a:rPr lang="en-GB" sz="1150" spc="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role-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protected</a:t>
            </a:r>
            <a:r>
              <a:rPr lang="en-GB" sz="1150" spc="1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endpoints matter</a:t>
            </a:r>
            <a:endParaRPr lang="en-GB" sz="1150" noProof="1">
              <a:latin typeface="Calibri"/>
              <a:cs typeface="Calibri"/>
            </a:endParaRPr>
          </a:p>
          <a:p>
            <a:pPr marR="85725">
              <a:lnSpc>
                <a:spcPct val="100000"/>
              </a:lnSpc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machines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require</a:t>
            </a:r>
            <a:r>
              <a:rPr lang="en-GB" sz="1150" spc="-4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careful design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35839" y="895669"/>
            <a:ext cx="2954020" cy="1701164"/>
            <a:chOff x="6135839" y="895669"/>
            <a:chExt cx="2954020" cy="1701164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5839" y="895669"/>
              <a:ext cx="2953804" cy="170065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36284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51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69" y="1535760"/>
                  </a:lnTo>
                  <a:lnTo>
                    <a:pt x="2788551" y="1535760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6284" y="960122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69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1535760"/>
                  </a:lnTo>
                  <a:lnTo>
                    <a:pt x="1394269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6284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2788551" y="0"/>
                  </a:moveTo>
                  <a:lnTo>
                    <a:pt x="0" y="0"/>
                  </a:lnTo>
                  <a:lnTo>
                    <a:pt x="0" y="54356"/>
                  </a:lnTo>
                  <a:lnTo>
                    <a:pt x="1394269" y="54356"/>
                  </a:lnTo>
                  <a:lnTo>
                    <a:pt x="2788551" y="54356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05D59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26" name="object 26"/>
            <p:cNvSpPr/>
            <p:nvPr/>
          </p:nvSpPr>
          <p:spPr>
            <a:xfrm>
              <a:off x="6236284" y="959766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09">
                  <a:moveTo>
                    <a:pt x="1394269" y="54356"/>
                  </a:moveTo>
                  <a:lnTo>
                    <a:pt x="0" y="54356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54356"/>
                  </a:lnTo>
                  <a:lnTo>
                    <a:pt x="1394269" y="54356"/>
                  </a:lnTo>
                  <a:close/>
                </a:path>
              </a:pathLst>
            </a:custGeom>
            <a:ln w="12599">
              <a:solidFill>
                <a:srgbClr val="05D59F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73075" y="1120893"/>
            <a:ext cx="155321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-690" noProof="1">
                <a:solidFill>
                  <a:srgbClr val="05D59F"/>
                </a:solidFill>
                <a:latin typeface="Cambria"/>
                <a:cs typeface="Cambria"/>
              </a:rPr>
              <a:t>⚛️</a:t>
            </a:r>
            <a:r>
              <a:rPr lang="en-GB" sz="1500" spc="225" noProof="1">
                <a:solidFill>
                  <a:srgbClr val="05D59F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05D59F"/>
                </a:solidFill>
                <a:latin typeface="Calibri"/>
                <a:cs typeface="Calibri"/>
              </a:rPr>
              <a:t>React</a:t>
            </a:r>
            <a:r>
              <a:rPr lang="en-GB" sz="1300" b="1" spc="-75" noProof="1">
                <a:solidFill>
                  <a:srgbClr val="05D59F"/>
                </a:solidFill>
                <a:latin typeface="Calibri"/>
                <a:cs typeface="Calibri"/>
              </a:rPr>
              <a:t> </a:t>
            </a:r>
            <a:r>
              <a:rPr lang="en-GB" sz="1300" b="1" spc="-10" noProof="1">
                <a:solidFill>
                  <a:srgbClr val="05D59F"/>
                </a:solidFill>
                <a:latin typeface="Calibri"/>
                <a:cs typeface="Calibri"/>
              </a:rPr>
              <a:t>Architecture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63080" y="1560501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6158" y="1583895"/>
            <a:ext cx="185737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6845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providers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auth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50" noProof="1">
                <a:solidFill>
                  <a:srgbClr val="FFFFFF"/>
                </a:solidFill>
                <a:latin typeface="Calibri"/>
                <a:cs typeface="Calibri"/>
              </a:rPr>
              <a:t>&amp;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endParaRPr lang="en-GB" sz="1150" noProof="1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Reusable</a:t>
            </a:r>
            <a:r>
              <a:rPr lang="en-GB" sz="11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modular</a:t>
            </a:r>
            <a:r>
              <a:rPr lang="en-GB" sz="1150" spc="-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components save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6964" y="2559953"/>
            <a:ext cx="2954020" cy="1701164"/>
            <a:chOff x="246964" y="2559953"/>
            <a:chExt cx="2954020" cy="1701164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964" y="2559953"/>
              <a:ext cx="2953804" cy="170064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47395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64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82" y="1535760"/>
                  </a:lnTo>
                  <a:lnTo>
                    <a:pt x="2788564" y="15357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3" name="object 33"/>
            <p:cNvSpPr/>
            <p:nvPr/>
          </p:nvSpPr>
          <p:spPr>
            <a:xfrm>
              <a:off x="347395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82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535760"/>
                  </a:lnTo>
                  <a:lnTo>
                    <a:pt x="1394282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4" name="object 34"/>
            <p:cNvSpPr/>
            <p:nvPr/>
          </p:nvSpPr>
          <p:spPr>
            <a:xfrm>
              <a:off x="347395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278856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94282" y="54368"/>
                  </a:lnTo>
                  <a:lnTo>
                    <a:pt x="2788564" y="5436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FABE23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347395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139428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54368"/>
                  </a:lnTo>
                  <a:lnTo>
                    <a:pt x="1394282" y="54368"/>
                  </a:lnTo>
                  <a:close/>
                </a:path>
              </a:pathLst>
            </a:custGeom>
            <a:ln w="12599">
              <a:solidFill>
                <a:srgbClr val="FABE23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4200" y="2785178"/>
            <a:ext cx="161671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-525" noProof="1">
                <a:solidFill>
                  <a:srgbClr val="FABE23"/>
                </a:solidFill>
                <a:latin typeface="Cambria"/>
                <a:cs typeface="Cambria"/>
              </a:rPr>
              <a:t>🗄️</a:t>
            </a:r>
            <a:r>
              <a:rPr lang="en-GB" sz="1500" spc="225" noProof="1">
                <a:solidFill>
                  <a:srgbClr val="FABE23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FABE23"/>
                </a:solidFill>
                <a:latin typeface="Calibri"/>
                <a:cs typeface="Calibri"/>
              </a:rPr>
              <a:t>Database</a:t>
            </a:r>
            <a:r>
              <a:rPr lang="en-GB" sz="1300" b="1" spc="-75" noProof="1">
                <a:solidFill>
                  <a:srgbClr val="FABE23"/>
                </a:solidFill>
                <a:latin typeface="Calibri"/>
                <a:cs typeface="Calibri"/>
              </a:rPr>
              <a:t> </a:t>
            </a:r>
            <a:r>
              <a:rPr lang="en-GB" sz="1300" b="1" spc="-40" noProof="1">
                <a:solidFill>
                  <a:srgbClr val="FABE23"/>
                </a:solidFill>
                <a:latin typeface="Calibri"/>
                <a:cs typeface="Calibri"/>
              </a:rPr>
              <a:t>Modeling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74205" y="3224773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7282" y="3248179"/>
            <a:ext cx="2028189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Normalized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schemas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prevent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issues</a:t>
            </a:r>
            <a:endParaRPr lang="en-GB" sz="1150" noProof="1">
              <a:latin typeface="Calibri"/>
              <a:cs typeface="Calibri"/>
            </a:endParaRPr>
          </a:p>
          <a:p>
            <a:pPr marR="269875"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keys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FKs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enforce consistency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191395" y="2559953"/>
            <a:ext cx="2954020" cy="1701164"/>
            <a:chOff x="3191395" y="2559953"/>
            <a:chExt cx="2954020" cy="1701164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1395" y="2559953"/>
              <a:ext cx="2953804" cy="170064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291840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64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82" y="1535760"/>
                  </a:lnTo>
                  <a:lnTo>
                    <a:pt x="2788564" y="15357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2" name="object 42"/>
            <p:cNvSpPr/>
            <p:nvPr/>
          </p:nvSpPr>
          <p:spPr>
            <a:xfrm>
              <a:off x="3291840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82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1535760"/>
                  </a:lnTo>
                  <a:lnTo>
                    <a:pt x="1394282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3" name="object 43"/>
            <p:cNvSpPr/>
            <p:nvPr/>
          </p:nvSpPr>
          <p:spPr>
            <a:xfrm>
              <a:off x="3291840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2788564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94282" y="54368"/>
                  </a:lnTo>
                  <a:lnTo>
                    <a:pt x="2788564" y="54368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33D299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44" name="object 44"/>
            <p:cNvSpPr/>
            <p:nvPr/>
          </p:nvSpPr>
          <p:spPr>
            <a:xfrm>
              <a:off x="3291840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1394282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54368"/>
                  </a:lnTo>
                  <a:lnTo>
                    <a:pt x="1394282" y="54368"/>
                  </a:lnTo>
                  <a:close/>
                </a:path>
              </a:pathLst>
            </a:custGeom>
            <a:ln w="12599">
              <a:solidFill>
                <a:srgbClr val="33D299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428644" y="2785178"/>
            <a:ext cx="2057756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33D299"/>
                </a:solidFill>
                <a:latin typeface="Cambria"/>
                <a:cs typeface="Cambria"/>
              </a:rPr>
              <a:t>🤝</a:t>
            </a:r>
            <a:r>
              <a:rPr lang="en-GB" sz="1500" spc="195" noProof="1">
                <a:solidFill>
                  <a:srgbClr val="33D299"/>
                </a:solidFill>
                <a:latin typeface="Cambria"/>
                <a:cs typeface="Cambria"/>
              </a:rPr>
              <a:t> </a:t>
            </a:r>
            <a:r>
              <a:rPr lang="en-GB" sz="1300" b="1" spc="-25" noProof="1">
                <a:solidFill>
                  <a:srgbClr val="33D299"/>
                </a:solidFill>
                <a:latin typeface="Calibri"/>
                <a:cs typeface="Calibri"/>
              </a:rPr>
              <a:t>Team</a:t>
            </a:r>
            <a:r>
              <a:rPr lang="en-GB" sz="1300" b="1" spc="-15" noProof="1">
                <a:solidFill>
                  <a:srgbClr val="33D299"/>
                </a:solidFill>
                <a:latin typeface="Calibri"/>
                <a:cs typeface="Calibri"/>
              </a:rPr>
              <a:t> </a:t>
            </a:r>
            <a:r>
              <a:rPr lang="en-GB" sz="1300" b="1" spc="-75" noProof="1">
                <a:solidFill>
                  <a:srgbClr val="33D299"/>
                </a:solidFill>
                <a:latin typeface="Calibri"/>
                <a:cs typeface="Calibri"/>
              </a:rPr>
              <a:t>Collaboration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518636" y="3224773"/>
            <a:ext cx="64769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861714" y="3248179"/>
            <a:ext cx="1825625" cy="72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1125">
              <a:lnSpc>
                <a:spcPct val="100000"/>
              </a:lnSpc>
              <a:spcBef>
                <a:spcPts val="100"/>
              </a:spcBef>
            </a:pP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Feature-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branch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Git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workflow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reduces</a:t>
            </a:r>
            <a:r>
              <a:rPr lang="en-GB" sz="1150" spc="-5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conflicts</a:t>
            </a:r>
            <a:endParaRPr lang="en-GB" sz="1150" noProof="1">
              <a:latin typeface="Calibri"/>
              <a:cs typeface="Calibri"/>
            </a:endParaRPr>
          </a:p>
          <a:p>
            <a:pPr marR="5080">
              <a:lnSpc>
                <a:spcPct val="100000"/>
              </a:lnSpc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Clear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role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separation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improves efficiency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135839" y="2559953"/>
            <a:ext cx="2954020" cy="1701164"/>
            <a:chOff x="6135839" y="2559953"/>
            <a:chExt cx="2954020" cy="1701164"/>
          </a:xfrm>
        </p:grpSpPr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5839" y="2559953"/>
              <a:ext cx="2953804" cy="170064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36284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2788551" y="0"/>
                  </a:moveTo>
                  <a:lnTo>
                    <a:pt x="0" y="0"/>
                  </a:lnTo>
                  <a:lnTo>
                    <a:pt x="0" y="1535760"/>
                  </a:lnTo>
                  <a:lnTo>
                    <a:pt x="1394269" y="1535760"/>
                  </a:lnTo>
                  <a:lnTo>
                    <a:pt x="2788551" y="1535760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19192F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1" name="object 51"/>
            <p:cNvSpPr/>
            <p:nvPr/>
          </p:nvSpPr>
          <p:spPr>
            <a:xfrm>
              <a:off x="6236284" y="2624406"/>
              <a:ext cx="2788920" cy="1536065"/>
            </a:xfrm>
            <a:custGeom>
              <a:avLst/>
              <a:gdLst/>
              <a:ahLst/>
              <a:cxnLst/>
              <a:rect l="l" t="t" r="r" b="b"/>
              <a:pathLst>
                <a:path w="2788920" h="1536064">
                  <a:moveTo>
                    <a:pt x="1394269" y="1535760"/>
                  </a:moveTo>
                  <a:lnTo>
                    <a:pt x="0" y="1535760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1535760"/>
                  </a:lnTo>
                  <a:lnTo>
                    <a:pt x="1394269" y="1535760"/>
                  </a:lnTo>
                  <a:close/>
                </a:path>
              </a:pathLst>
            </a:custGeom>
            <a:ln w="12599">
              <a:solidFill>
                <a:srgbClr val="2C2C5D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2" name="object 52"/>
            <p:cNvSpPr/>
            <p:nvPr/>
          </p:nvSpPr>
          <p:spPr>
            <a:xfrm>
              <a:off x="6236284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2788551" y="0"/>
                  </a:moveTo>
                  <a:lnTo>
                    <a:pt x="0" y="0"/>
                  </a:lnTo>
                  <a:lnTo>
                    <a:pt x="0" y="54368"/>
                  </a:lnTo>
                  <a:lnTo>
                    <a:pt x="1394269" y="54368"/>
                  </a:lnTo>
                  <a:lnTo>
                    <a:pt x="2788551" y="54368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F77070"/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3" name="object 53"/>
            <p:cNvSpPr/>
            <p:nvPr/>
          </p:nvSpPr>
          <p:spPr>
            <a:xfrm>
              <a:off x="6236284" y="2624038"/>
              <a:ext cx="2788920" cy="54610"/>
            </a:xfrm>
            <a:custGeom>
              <a:avLst/>
              <a:gdLst/>
              <a:ahLst/>
              <a:cxnLst/>
              <a:rect l="l" t="t" r="r" b="b"/>
              <a:pathLst>
                <a:path w="2788920" h="54610">
                  <a:moveTo>
                    <a:pt x="1394269" y="54368"/>
                  </a:moveTo>
                  <a:lnTo>
                    <a:pt x="0" y="54368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54368"/>
                  </a:lnTo>
                  <a:lnTo>
                    <a:pt x="1394269" y="54368"/>
                  </a:lnTo>
                  <a:close/>
                </a:path>
              </a:pathLst>
            </a:custGeom>
            <a:ln w="12599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373075" y="2785178"/>
            <a:ext cx="2172756" cy="2475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GB" sz="1500" spc="975" noProof="1">
                <a:solidFill>
                  <a:srgbClr val="F77070"/>
                </a:solidFill>
                <a:latin typeface="Cambria"/>
                <a:cs typeface="Cambria"/>
              </a:rPr>
              <a:t>🔒</a:t>
            </a:r>
            <a:r>
              <a:rPr lang="en-GB" sz="1500" spc="175" noProof="1">
                <a:solidFill>
                  <a:srgbClr val="F77070"/>
                </a:solidFill>
                <a:latin typeface="Cambria"/>
                <a:cs typeface="Cambria"/>
              </a:rPr>
              <a:t> </a:t>
            </a:r>
            <a:r>
              <a:rPr lang="en-GB" sz="1300" b="1" noProof="1">
                <a:solidFill>
                  <a:srgbClr val="F77070"/>
                </a:solidFill>
                <a:latin typeface="Calibri"/>
                <a:cs typeface="Calibri"/>
              </a:rPr>
              <a:t>Security</a:t>
            </a:r>
            <a:r>
              <a:rPr lang="en-GB" sz="1300" b="1" spc="-25" noProof="1">
                <a:solidFill>
                  <a:srgbClr val="F77070"/>
                </a:solidFill>
                <a:latin typeface="Calibri"/>
                <a:cs typeface="Calibri"/>
              </a:rPr>
              <a:t> </a:t>
            </a:r>
            <a:r>
              <a:rPr lang="en-GB" sz="1300" b="1" spc="-95" noProof="1">
                <a:solidFill>
                  <a:srgbClr val="F77070"/>
                </a:solidFill>
                <a:latin typeface="Calibri"/>
                <a:cs typeface="Calibri"/>
              </a:rPr>
              <a:t>Practices</a:t>
            </a:r>
            <a:endParaRPr lang="en-GB" sz="1300" noProof="1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463080" y="3312263"/>
            <a:ext cx="6476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lang="en-GB" sz="1150" spc="-50" noProof="1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lang="en-GB" sz="1150" noProof="1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806158" y="3335657"/>
            <a:ext cx="1948180" cy="551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bcrypt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essential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10" noProof="1">
                <a:solidFill>
                  <a:srgbClr val="FFFFFF"/>
                </a:solidFill>
                <a:latin typeface="Calibri"/>
                <a:cs typeface="Calibri"/>
              </a:rPr>
              <a:t>basics Middleware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guards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lang="en-GB" sz="1150" spc="-1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5" noProof="1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lang="en-GB" sz="1150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noProof="1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lang="en-GB" sz="1150" spc="-3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150" spc="-20" noProof="1">
                <a:solidFill>
                  <a:srgbClr val="FFFFFF"/>
                </a:solidFill>
                <a:latin typeface="Calibri"/>
                <a:cs typeface="Calibri"/>
              </a:rPr>
              <a:t>route</a:t>
            </a:r>
            <a:endParaRPr lang="en-GB" sz="1150" noProof="1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-6655" y="4885742"/>
            <a:ext cx="9156700" cy="264160"/>
            <a:chOff x="-6655" y="4885742"/>
            <a:chExt cx="9156700" cy="264160"/>
          </a:xfrm>
        </p:grpSpPr>
        <p:sp>
          <p:nvSpPr>
            <p:cNvPr id="58" name="object 58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9143631" y="0"/>
                  </a:moveTo>
                  <a:lnTo>
                    <a:pt x="0" y="0"/>
                  </a:lnTo>
                  <a:lnTo>
                    <a:pt x="0" y="251282"/>
                  </a:lnTo>
                  <a:lnTo>
                    <a:pt x="4572000" y="251282"/>
                  </a:lnTo>
                  <a:lnTo>
                    <a:pt x="9143631" y="251282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7B39EC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  <p:sp>
          <p:nvSpPr>
            <p:cNvPr id="59" name="object 59"/>
            <p:cNvSpPr/>
            <p:nvPr/>
          </p:nvSpPr>
          <p:spPr>
            <a:xfrm>
              <a:off x="-355" y="4892041"/>
              <a:ext cx="9144000" cy="251460"/>
            </a:xfrm>
            <a:custGeom>
              <a:avLst/>
              <a:gdLst/>
              <a:ahLst/>
              <a:cxnLst/>
              <a:rect l="l" t="t" r="r" b="b"/>
              <a:pathLst>
                <a:path w="9144000" h="251460">
                  <a:moveTo>
                    <a:pt x="4572000" y="251282"/>
                  </a:moveTo>
                  <a:lnTo>
                    <a:pt x="0" y="251282"/>
                  </a:lnTo>
                  <a:lnTo>
                    <a:pt x="0" y="0"/>
                  </a:lnTo>
                  <a:lnTo>
                    <a:pt x="9143631" y="0"/>
                  </a:lnTo>
                  <a:lnTo>
                    <a:pt x="9143631" y="251282"/>
                  </a:lnTo>
                  <a:lnTo>
                    <a:pt x="4572000" y="251282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 lang="en-GB" noProof="1"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765056" y="4905986"/>
            <a:ext cx="361187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lang="en-GB" sz="1300" b="1" spc="-3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you!</a:t>
            </a:r>
            <a:r>
              <a:rPr lang="en-GB" sz="1300" b="1" spc="26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lang="en-GB" sz="1300" b="1" spc="26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LaserZone</a:t>
            </a:r>
            <a:r>
              <a:rPr lang="en-GB" sz="1300" b="1" spc="254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lang="en-GB" sz="1300" b="1" spc="26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COMP</a:t>
            </a:r>
            <a:r>
              <a:rPr lang="en-GB" sz="1300" b="1" spc="-25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202</a:t>
            </a:r>
            <a:r>
              <a:rPr lang="en-GB" sz="1300" b="1" spc="25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lang="en-GB" sz="1300" b="1" spc="260" noProof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GB" sz="1300" b="1" noProof="1">
                <a:solidFill>
                  <a:srgbClr val="FFFFFF"/>
                </a:solidFill>
                <a:latin typeface="Calibri"/>
                <a:cs typeface="Calibri"/>
              </a:rPr>
              <a:t>Spring</a:t>
            </a:r>
            <a:r>
              <a:rPr lang="en-GB" sz="1300" b="1" spc="-20" noProof="1">
                <a:solidFill>
                  <a:srgbClr val="FFFFFF"/>
                </a:solidFill>
                <a:latin typeface="Calibri"/>
                <a:cs typeface="Calibri"/>
              </a:rPr>
              <a:t> 2026</a:t>
            </a:r>
            <a:endParaRPr lang="en-GB" sz="1300" noProof="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1084</Words>
  <Application>Microsoft Office PowerPoint</Application>
  <PresentationFormat>Özel</PresentationFormat>
  <Paragraphs>213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Aptos</vt:lpstr>
      <vt:lpstr>Arial MT</vt:lpstr>
      <vt:lpstr>Calibri</vt:lpstr>
      <vt:lpstr>Cambria</vt:lpstr>
      <vt:lpstr>Office Theme</vt:lpstr>
      <vt:lpstr>LaserZone</vt:lpstr>
      <vt:lpstr>Outline</vt:lpstr>
      <vt:lpstr>Purpose of the Project</vt:lpstr>
      <vt:lpstr>Platform &amp; Technologies</vt:lpstr>
      <vt:lpstr>Requirements</vt:lpstr>
      <vt:lpstr>Difficulties &amp; Issues</vt:lpstr>
      <vt:lpstr>What We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LaserZone – Online Reservation System</dc:title>
  <dc:subject>PptxGenJS Presentation</dc:subject>
  <dc:creator>PptxGenJS</dc:creator>
  <cp:lastModifiedBy>Muhammet Gümüş</cp:lastModifiedBy>
  <cp:revision>5</cp:revision>
  <dcterms:created xsi:type="dcterms:W3CDTF">2026-05-18T06:41:24Z</dcterms:created>
  <dcterms:modified xsi:type="dcterms:W3CDTF">2026-05-18T08:09:10Z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2026-05-18T00:00:00Z</vt:filetime>
  </property>
</Properties>
</file>